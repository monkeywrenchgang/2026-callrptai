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69" r:id="rId4"/>
    <p:sldId id="270" r:id="rId5"/>
    <p:sldId id="278" r:id="rId6"/>
    <p:sldId id="271" r:id="rId7"/>
    <p:sldId id="257" r:id="rId8"/>
    <p:sldId id="258" r:id="rId9"/>
    <p:sldId id="261" r:id="rId10"/>
    <p:sldId id="272" r:id="rId11"/>
    <p:sldId id="273" r:id="rId12"/>
    <p:sldId id="274" r:id="rId13"/>
    <p:sldId id="277" r:id="rId14"/>
    <p:sldId id="275" r:id="rId15"/>
    <p:sldId id="27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2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931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Data as a Service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Project Structure — Shared JHA Infrastructure vs. Dedicated JHBI Projects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Tenancy, Compliance &amp; Migration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 ·  Option A vs. B  ·  Platinum Per-FI Layer  ·  JHaKnow/ARCU/Cognos Migration  ·  Compliance &amp; GCP Services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493008"/>
            <a:ext cx="6400800" cy="27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7307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 |   Confidential   |   March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509760" y="1371600"/>
            <a:ext cx="2286000" cy="1097280"/>
          </a:xfrm>
          <a:prstGeom prst="rect">
            <a:avLst/>
          </a:prstGeom>
          <a:solidFill>
            <a:srgbClr val="C55A11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09760" y="1536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0" y="1938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JHA Infrastructure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09760" y="2743200"/>
            <a:ext cx="2286000" cy="1097280"/>
          </a:xfrm>
          <a:prstGeom prst="rect">
            <a:avLst/>
          </a:prstGeom>
          <a:solidFill>
            <a:srgbClr val="2E75B6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509760" y="29077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0" y="3310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Isolation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09760" y="4114800"/>
            <a:ext cx="2286000" cy="1097280"/>
          </a:xfrm>
          <a:prstGeom prst="rect">
            <a:avLst/>
          </a:prstGeom>
          <a:solidFill>
            <a:srgbClr val="1E7A4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509760" y="42793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Project Isolation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Slide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op Nav Bar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4E7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</a:rPr>
              <a:t>JHBI Architecture — Internal Analytics Layer + Per-FI Platinum Layer</a:t>
            </a:r>
          </a:p>
        </p:txBody>
      </p:sp>
      <p:sp>
        <p:nvSpPr>
          <p:cNvPr id="3" name="Top Nav Subtitle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9DC3E6"/>
                </a:solidFill>
                <a:latin typeface="Calibri" pitchFamily="34" charset="0"/>
              </a:rPr>
              <a:t>Bronze/Silver/Gold serves JHA internal cross-FI analytics  ·  Platinum provides guaranteed per-FI isolation for FI-facing data</a:t>
            </a:r>
          </a:p>
        </p:txBody>
      </p:sp>
      <p:sp>
        <p:nvSpPr>
          <p:cNvPr id="4" name="Stage1 Header"/>
          <p:cNvSpPr/>
          <p:nvPr/>
        </p:nvSpPr>
        <p:spPr>
          <a:xfrm>
            <a:off x="620000" y="740000"/>
            <a:ext cx="1900000" cy="400000"/>
          </a:xfrm>
          <a:prstGeom prst="rect">
            <a:avLst/>
          </a:prstGeom>
          <a:solidFill>
            <a:srgbClr val="36454F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</a:rPr>
              <a:t>SOURCE SYSTEMS</a:t>
            </a:r>
          </a:p>
        </p:txBody>
      </p:sp>
      <p:sp>
        <p:nvSpPr>
          <p:cNvPr id="5" name="Stage1 Body"/>
          <p:cNvSpPr/>
          <p:nvPr/>
        </p:nvSpPr>
        <p:spPr>
          <a:xfrm>
            <a:off x="620000" y="1140000"/>
            <a:ext cx="1900000" cy="1500000"/>
          </a:xfrm>
          <a:prstGeom prst="rect">
            <a:avLst/>
          </a:prstGeom>
          <a:solidFill>
            <a:srgbClr val="F0F0F0"/>
          </a:solidFill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</a:rPr>
              <a:t>EPS Ensenta (ACH)</a:t>
            </a:r>
          </a:p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</a:rPr>
              <a:t>EPS PayCenter</a:t>
            </a:r>
          </a:p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</a:rPr>
              <a:t>BillPay</a:t>
            </a:r>
          </a:p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</a:rPr>
              <a:t>JHaKnow on-prem → *</a:t>
            </a:r>
          </a:p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Calibri" pitchFamily="34" charset="0"/>
              </a:rPr>
              <a:t>ARCU on-prem → *</a:t>
            </a:r>
          </a:p>
          <a:p>
            <a:pPr marL="0" indent="0">
              <a:buNone/>
            </a:pPr>
            <a:r>
              <a:rPr lang="en-US" sz="850" b="1">
                <a:solidFill>
                  <a:srgbClr val="C55A11"/>
                </a:solidFill>
                <a:latin typeface="Calibri" pitchFamily="34" charset="0"/>
              </a:rPr>
              <a:t>* migrating to cloud</a:t>
            </a:r>
          </a:p>
        </p:txBody>
      </p:sp>
      <p:sp>
        <p:nvSpPr>
          <p:cNvPr id="6" name="Arrow 1-2"/>
          <p:cNvSpPr/>
          <p:nvPr/>
        </p:nvSpPr>
        <p:spPr>
          <a:xfrm>
            <a:off x="2580000" y="1600000"/>
            <a:ext cx="200000" cy="3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F4E79"/>
                </a:solidFill>
                <a:latin typeface="Calibri" pitchFamily="34" charset="0"/>
              </a:rPr>
              <a:t>►</a:t>
            </a:r>
          </a:p>
        </p:txBody>
      </p:sp>
      <p:sp>
        <p:nvSpPr>
          <p:cNvPr id="7" name="Stage2 Header"/>
          <p:cNvSpPr/>
          <p:nvPr/>
        </p:nvSpPr>
        <p:spPr>
          <a:xfrm>
            <a:off x="2820000" y="740000"/>
            <a:ext cx="1850000" cy="400000"/>
          </a:xfrm>
          <a:prstGeom prst="rect">
            <a:avLst/>
          </a:prstGeom>
          <a:solidFill>
            <a:srgbClr val="C55A11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</a:rPr>
              <a:t>BRONZE</a:t>
            </a:r>
          </a:p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</a:rPr>
              <a:t>raw ingest</a:t>
            </a:r>
          </a:p>
        </p:txBody>
      </p:sp>
      <p:sp>
        <p:nvSpPr>
          <p:cNvPr id="8" name="Stage2 Body"/>
          <p:cNvSpPr/>
          <p:nvPr/>
        </p:nvSpPr>
        <p:spPr>
          <a:xfrm>
            <a:off x="2820000" y="1140000"/>
            <a:ext cx="1850000" cy="1500000"/>
          </a:xfrm>
          <a:prstGeom prst="rect">
            <a:avLst/>
          </a:prstGeom>
          <a:solidFill>
            <a:srgbClr val="FFF5F0"/>
          </a:solidFill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3D1C1C"/>
                </a:solidFill>
                <a:latin typeface="Calibri" pitchFamily="34" charset="0"/>
              </a:rPr>
              <a:t>CDC events, all FIs</a:t>
            </a:r>
          </a:p>
          <a:p>
            <a:pPr marL="0" indent="0">
              <a:buNone/>
            </a:pPr>
            <a:r>
              <a:rPr lang="en-US" sz="950">
                <a:solidFill>
                  <a:srgbClr val="3D1C1C"/>
                </a:solidFill>
                <a:latin typeface="Calibri" pitchFamily="34" charset="0"/>
              </a:rPr>
              <a:t>JSON payload (schema-on-read)</a:t>
            </a:r>
          </a:p>
          <a:p>
            <a:pPr marL="0" indent="0">
              <a:buNone/>
            </a:pPr>
            <a:r>
              <a:rPr lang="en-US" sz="950">
                <a:solidFill>
                  <a:srgbClr val="3D1C1C"/>
                </a:solidFill>
                <a:latin typeface="Calibri" pitchFamily="34" charset="0"/>
              </a:rPr>
              <a:t>PAN/routing tokenized</a:t>
            </a:r>
          </a:p>
          <a:p>
            <a:pPr marL="0" indent="0">
              <a:buNone/>
            </a:pPr>
            <a:r>
              <a:rPr lang="en-US" sz="950">
                <a:solidFill>
                  <a:srgbClr val="3D1C1C"/>
                </a:solidFill>
                <a:latin typeface="Calibri" pitchFamily="34" charset="0"/>
              </a:rPr>
              <a:t>fi_id on every row</a:t>
            </a:r>
          </a:p>
          <a:p>
            <a:pPr marL="0" indent="0">
              <a:buNone/>
            </a:pPr>
            <a:r>
              <a:rPr lang="en-US" sz="950">
                <a:solidFill>
                  <a:srgbClr val="3D1C1C"/>
                </a:solidFill>
                <a:latin typeface="Calibri" pitchFamily="34" charset="0"/>
              </a:rPr>
              <a:t>7yr retention</a:t>
            </a:r>
          </a:p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</a:rPr>
              <a:t>jhbi-pci-prod → jhbi-datalake-prod</a:t>
            </a:r>
          </a:p>
        </p:txBody>
      </p:sp>
      <p:sp>
        <p:nvSpPr>
          <p:cNvPr id="9" name="Arrow 2-3"/>
          <p:cNvSpPr/>
          <p:nvPr/>
        </p:nvSpPr>
        <p:spPr>
          <a:xfrm>
            <a:off x="4720000" y="1600000"/>
            <a:ext cx="200000" cy="3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F4E79"/>
                </a:solidFill>
                <a:latin typeface="Calibri" pitchFamily="34" charset="0"/>
              </a:rPr>
              <a:t>►</a:t>
            </a:r>
          </a:p>
        </p:txBody>
      </p:sp>
      <p:sp>
        <p:nvSpPr>
          <p:cNvPr id="10" name="Stage3 Header"/>
          <p:cNvSpPr/>
          <p:nvPr/>
        </p:nvSpPr>
        <p:spPr>
          <a:xfrm>
            <a:off x="4960000" y="740000"/>
            <a:ext cx="1850000" cy="400000"/>
          </a:xfrm>
          <a:prstGeom prst="rect">
            <a:avLst/>
          </a:prstGeom>
          <a:solidFill>
            <a:srgbClr val="2E75B6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</a:rPr>
              <a:t>SILVER</a:t>
            </a:r>
          </a:p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</a:rPr>
              <a:t>unified schema</a:t>
            </a:r>
          </a:p>
        </p:txBody>
      </p:sp>
      <p:sp>
        <p:nvSpPr>
          <p:cNvPr id="11" name="Stage3 Body"/>
          <p:cNvSpPr/>
          <p:nvPr/>
        </p:nvSpPr>
        <p:spPr>
          <a:xfrm>
            <a:off x="4960000" y="1140000"/>
            <a:ext cx="1850000" cy="1500000"/>
          </a:xfrm>
          <a:prstGeom prst="rect">
            <a:avLst/>
          </a:prstGeom>
          <a:solidFill>
            <a:srgbClr val="F0F5FF"/>
          </a:solidFill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C2D3D"/>
                </a:solidFill>
                <a:latin typeface="Calibri" pitchFamily="34" charset="0"/>
              </a:rPr>
              <a:t>upt_transaction (all rails)</a:t>
            </a:r>
          </a:p>
          <a:p>
            <a:pPr marL="0" indent="0">
              <a:buNone/>
            </a:pPr>
            <a:r>
              <a:rPr lang="en-US" sz="950">
                <a:solidFill>
                  <a:srgbClr val="1C2D3D"/>
                </a:solidFill>
                <a:latin typeface="Calibri" pitchFamily="34" charset="0"/>
              </a:rPr>
              <a:t>Entity-resolved (Identity/Entity Resolution)</a:t>
            </a:r>
          </a:p>
          <a:p>
            <a:pPr marL="0" indent="0">
              <a:buNone/>
            </a:pPr>
            <a:r>
              <a:rPr lang="en-US" sz="950">
                <a:solidFill>
                  <a:srgbClr val="1C2D3D"/>
                </a:solidFill>
                <a:latin typeface="Calibri" pitchFamily="34" charset="0"/>
              </a:rPr>
              <a:t>BIAN/ISO 20022 aligned</a:t>
            </a:r>
          </a:p>
          <a:p>
            <a:pPr marL="0" indent="0">
              <a:buNone/>
            </a:pPr>
            <a:r>
              <a:rPr lang="en-US" sz="950">
                <a:solidFill>
                  <a:srgbClr val="1C2D3D"/>
                </a:solidFill>
                <a:latin typeface="Calibri" pitchFamily="34" charset="0"/>
              </a:rPr>
              <a:t>Clustered by fi_id + rail</a:t>
            </a:r>
          </a:p>
          <a:p>
            <a:pPr marL="0" indent="0">
              <a:buNone/>
            </a:pPr>
            <a:r>
              <a:rPr lang="en-US" sz="950">
                <a:solidFill>
                  <a:srgbClr val="1C2D3D"/>
                </a:solidFill>
                <a:latin typeface="Calibri" pitchFamily="34" charset="0"/>
              </a:rPr>
              <a:t>Dataplex DQ enforced</a:t>
            </a:r>
          </a:p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</a:rPr>
              <a:t>jhbi-datalake-prod</a:t>
            </a:r>
          </a:p>
        </p:txBody>
      </p:sp>
      <p:sp>
        <p:nvSpPr>
          <p:cNvPr id="12" name="Arrow 3-4"/>
          <p:cNvSpPr/>
          <p:nvPr/>
        </p:nvSpPr>
        <p:spPr>
          <a:xfrm>
            <a:off x="6860000" y="1600000"/>
            <a:ext cx="200000" cy="3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F4E79"/>
                </a:solidFill>
                <a:latin typeface="Calibri" pitchFamily="34" charset="0"/>
              </a:rPr>
              <a:t>►</a:t>
            </a:r>
          </a:p>
        </p:txBody>
      </p:sp>
      <p:sp>
        <p:nvSpPr>
          <p:cNvPr id="13" name="Stage4 Header"/>
          <p:cNvSpPr/>
          <p:nvPr/>
        </p:nvSpPr>
        <p:spPr>
          <a:xfrm>
            <a:off x="7100000" y="740000"/>
            <a:ext cx="1850000" cy="400000"/>
          </a:xfrm>
          <a:prstGeom prst="rect">
            <a:avLst/>
          </a:prstGeom>
          <a:solidFill>
            <a:srgbClr val="1F4E7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</a:rPr>
              <a:t>GOLD</a:t>
            </a:r>
          </a:p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</a:rPr>
              <a:t>JHA internal only</a:t>
            </a:r>
          </a:p>
        </p:txBody>
      </p:sp>
      <p:sp>
        <p:nvSpPr>
          <p:cNvPr id="14" name="Stage4 Body"/>
          <p:cNvSpPr/>
          <p:nvPr/>
        </p:nvSpPr>
        <p:spPr>
          <a:xfrm>
            <a:off x="7100000" y="1140000"/>
            <a:ext cx="1850000" cy="1500000"/>
          </a:xfrm>
          <a:prstGeom prst="rect">
            <a:avLst/>
          </a:prstGeom>
          <a:solidFill>
            <a:srgbClr val="EBF3FB"/>
          </a:solidFill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1C2D3D"/>
                </a:solidFill>
                <a:latin typeface="Calibri" pitchFamily="34" charset="0"/>
              </a:rPr>
              <a:t>Star schema facts + dims</a:t>
            </a:r>
          </a:p>
          <a:p>
            <a:pPr marL="0" indent="0">
              <a:buNone/>
            </a:pPr>
            <a:r>
              <a:rPr lang="en-US" sz="950">
                <a:solidFill>
                  <a:srgbClr val="1C2D3D"/>
                </a:solidFill>
                <a:latin typeface="Calibri" pitchFamily="34" charset="0"/>
              </a:rPr>
              <a:t>Cross-FI aggregate views</a:t>
            </a:r>
          </a:p>
          <a:p>
            <a:pPr marL="0" indent="0">
              <a:buNone/>
            </a:pPr>
            <a:r>
              <a:rPr lang="en-US" sz="950">
                <a:solidFill>
                  <a:srgbClr val="1C2D3D"/>
                </a:solidFill>
                <a:latin typeface="Calibri" pitchFamily="34" charset="0"/>
              </a:rPr>
              <a:t>RLS: fi_id on all rows</a:t>
            </a:r>
          </a:p>
          <a:p>
            <a:pPr marL="0" indent="0">
              <a:buNone/>
            </a:pPr>
            <a:r>
              <a:rPr lang="en-US" sz="950">
                <a:solidFill>
                  <a:srgbClr val="1C2D3D"/>
                </a:solidFill>
                <a:latin typeface="Calibri" pitchFamily="34" charset="0"/>
              </a:rPr>
              <a:t>Vertex AI / Looker</a:t>
            </a:r>
          </a:p>
          <a:p>
            <a:pPr marL="0" indent="0">
              <a:buNone/>
            </a:pPr>
            <a:r>
              <a:rPr lang="en-US" sz="950">
                <a:solidFill>
                  <a:srgbClr val="1C2D3D"/>
                </a:solidFill>
                <a:latin typeface="Calibri" pitchFamily="34" charset="0"/>
              </a:rPr>
              <a:t>JHA analysts only</a:t>
            </a:r>
          </a:p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</a:rPr>
              <a:t>jhbi-datalake-prod</a:t>
            </a:r>
          </a:p>
        </p:txBody>
      </p:sp>
      <p:sp>
        <p:nvSpPr>
          <p:cNvPr id="15" name="Divider Line"/>
          <p:cNvSpPr/>
          <p:nvPr/>
        </p:nvSpPr>
        <p:spPr>
          <a:xfrm flipH="1">
            <a:off x="8984761" y="740000"/>
            <a:ext cx="45719" cy="2565760"/>
          </a:xfrm>
          <a:prstGeom prst="rect">
            <a:avLst/>
          </a:prstGeom>
          <a:solidFill>
            <a:srgbClr val="C55A11"/>
          </a:solidFill>
        </p:spPr>
        <p:txBody>
          <a:bodyPr wrap="square" rtlCol="0" anchor="ctr"/>
          <a:lstStyle/>
          <a:p>
            <a:endParaRPr/>
          </a:p>
        </p:txBody>
      </p:sp>
      <p:sp>
        <p:nvSpPr>
          <p:cNvPr id="16" name="Platinum Header"/>
          <p:cNvSpPr/>
          <p:nvPr/>
        </p:nvSpPr>
        <p:spPr>
          <a:xfrm>
            <a:off x="9100000" y="740000"/>
            <a:ext cx="2900000" cy="400000"/>
          </a:xfrm>
          <a:prstGeom prst="rect">
            <a:avLst/>
          </a:prstGeom>
          <a:solidFill>
            <a:srgbClr val="1E7A4A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</a:rPr>
              <a:t>PLATINUM</a:t>
            </a:r>
          </a:p>
          <a:p>
            <a:pPr marL="0" indent="0" algn="ctr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</a:rPr>
              <a:t>per-FI project</a:t>
            </a:r>
          </a:p>
        </p:txBody>
      </p:sp>
      <p:sp>
        <p:nvSpPr>
          <p:cNvPr id="19" name="FI-C Box"/>
          <p:cNvSpPr/>
          <p:nvPr/>
        </p:nvSpPr>
        <p:spPr>
          <a:xfrm>
            <a:off x="9100000" y="1221632"/>
            <a:ext cx="2900000" cy="1363488"/>
          </a:xfrm>
          <a:prstGeom prst="rect">
            <a:avLst/>
          </a:prstGeom>
          <a:solidFill>
            <a:srgbClr val="F0FFF4"/>
          </a:solidFill>
          <a:ln w="19050">
            <a:solidFill>
              <a:srgbClr val="1E7A4A"/>
            </a:solidFill>
          </a:ln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E7A4A"/>
                </a:solidFill>
                <a:latin typeface="Calibri" pitchFamily="34" charset="0"/>
              </a:rPr>
              <a:t>jhbi</a:t>
            </a:r>
            <a:r>
              <a:rPr lang="en-US" sz="1100" b="1" dirty="0">
                <a:solidFill>
                  <a:srgbClr val="1E7A4A"/>
                </a:solidFill>
                <a:latin typeface="Calibri" pitchFamily="34" charset="0"/>
              </a:rPr>
              <a:t>-fi-{new-fi}-prod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Platinum BQ dataset · per-FI SA · budget alert</a:t>
            </a:r>
          </a:p>
          <a:p>
            <a:pPr marL="0" indent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</a:rPr>
              <a:t>New JHBI FI (Terraform on-demand)</a:t>
            </a:r>
          </a:p>
          <a:p>
            <a:endParaRPr lang="en-US" sz="850" i="1" dirty="0">
              <a:solidFill>
                <a:srgbClr val="666666"/>
              </a:solidFill>
              <a:latin typeface="Calibri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</a:rPr>
              <a:t>Cognos migration FI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</a:rPr>
              <a:t>ARCU migration FI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i="1" dirty="0" err="1">
                <a:solidFill>
                  <a:srgbClr val="666666"/>
                </a:solidFill>
                <a:latin typeface="Calibri" pitchFamily="34" charset="0"/>
              </a:rPr>
              <a:t>JHaKnow</a:t>
            </a:r>
            <a:r>
              <a:rPr lang="en-US" sz="850" i="1" dirty="0">
                <a:solidFill>
                  <a:srgbClr val="666666"/>
                </a:solidFill>
                <a:latin typeface="Calibri" pitchFamily="34" charset="0"/>
              </a:rPr>
              <a:t> migration FI</a:t>
            </a:r>
          </a:p>
          <a:p>
            <a:endParaRPr lang="en-US" sz="850" i="1" dirty="0">
              <a:solidFill>
                <a:srgbClr val="666666"/>
              </a:solidFill>
              <a:latin typeface="Calibri" pitchFamily="34" charset="0"/>
            </a:endParaRPr>
          </a:p>
          <a:p>
            <a:pPr marL="0" indent="0">
              <a:buNone/>
            </a:pPr>
            <a:endParaRPr lang="en-US" sz="850" i="1" dirty="0">
              <a:solidFill>
                <a:srgbClr val="666666"/>
              </a:solidFill>
              <a:latin typeface="Calibri" pitchFamily="34" charset="0"/>
            </a:endParaRPr>
          </a:p>
        </p:txBody>
      </p:sp>
      <p:sp>
        <p:nvSpPr>
          <p:cNvPr id="20" name="Internal JHA Label"/>
          <p:cNvSpPr/>
          <p:nvPr/>
        </p:nvSpPr>
        <p:spPr>
          <a:xfrm>
            <a:off x="620000" y="2888827"/>
            <a:ext cx="8330000" cy="406400"/>
          </a:xfrm>
          <a:prstGeom prst="rect">
            <a:avLst/>
          </a:prstGeom>
          <a:solidFill>
            <a:srgbClr val="1F4E7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INTERNAL JHA ANALYTICS LAYER — Multi-tenant · Cross-FI · JHA eyes only ·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</a:rPr>
              <a:t>jhbi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-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</a:rPr>
              <a:t>pci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-prod +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</a:rPr>
              <a:t>jhbi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-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</a:rPr>
              <a:t>datalake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-prod + 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</a:rPr>
              <a:t>jhbi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-compute-prod</a:t>
            </a:r>
          </a:p>
        </p:txBody>
      </p:sp>
      <p:sp>
        <p:nvSpPr>
          <p:cNvPr id="21" name="FI-Specific Label"/>
          <p:cNvSpPr/>
          <p:nvPr/>
        </p:nvSpPr>
        <p:spPr>
          <a:xfrm>
            <a:off x="9100000" y="2888827"/>
            <a:ext cx="2900000" cy="385760"/>
          </a:xfrm>
          <a:prstGeom prst="rect">
            <a:avLst/>
          </a:prstGeom>
          <a:solidFill>
            <a:srgbClr val="1E7A4A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FI-SPECIFIC ISOLATION LAYER — One GCP project per FI · JHBI-managed · Terraform-provisioned</a:t>
            </a:r>
          </a:p>
        </p:txBody>
      </p:sp>
      <p:sp>
        <p:nvSpPr>
          <p:cNvPr id="22" name="Why Two Layers Header"/>
          <p:cNvSpPr/>
          <p:nvPr/>
        </p:nvSpPr>
        <p:spPr>
          <a:xfrm>
            <a:off x="620000" y="3466400"/>
            <a:ext cx="5400000" cy="280000"/>
          </a:xfrm>
          <a:prstGeom prst="rect">
            <a:avLst/>
          </a:prstGeom>
          <a:solidFill>
            <a:srgbClr val="1F4E7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Why Two Layers?</a:t>
            </a:r>
          </a:p>
        </p:txBody>
      </p:sp>
      <p:sp>
        <p:nvSpPr>
          <p:cNvPr id="23" name="Why Two Layers Content"/>
          <p:cNvSpPr/>
          <p:nvPr/>
        </p:nvSpPr>
        <p:spPr>
          <a:xfrm>
            <a:off x="620000" y="3746400"/>
            <a:ext cx="5400000" cy="2708240"/>
          </a:xfrm>
          <a:prstGeom prst="rect">
            <a:avLst/>
          </a:prstGeom>
          <a:solidFill>
            <a:srgbClr val="EBF3FB"/>
          </a:solidFill>
        </p:spPr>
        <p:txBody>
          <a:bodyPr wrap="square" lIns="72000" tIns="54000" rIns="72000" rtlCol="0" anchor="t"/>
          <a:lstStyle/>
          <a:p>
            <a:r>
              <a:rPr lang="en-US" sz="1050" b="1" dirty="0"/>
              <a:t>MEDALLION</a:t>
            </a:r>
            <a:endParaRPr lang="en-US" sz="1050" b="1" dirty="0">
              <a:solidFill>
                <a:srgbClr val="1C2D3D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C2D3D"/>
                </a:solidFill>
                <a:latin typeface="Calibri" pitchFamily="34" charset="0"/>
              </a:rPr>
              <a:t>The Internal Layer (Bronze/Silver/Gold) is multi-tenant by design. All FI payment data flows through shared datasets, partitioned and clustered by </a:t>
            </a:r>
            <a:r>
              <a:rPr lang="en-US" sz="1050" dirty="0" err="1">
                <a:solidFill>
                  <a:srgbClr val="1C2D3D"/>
                </a:solidFill>
                <a:latin typeface="Calibri" pitchFamily="34" charset="0"/>
              </a:rPr>
              <a:t>fi_id</a:t>
            </a:r>
            <a:r>
              <a:rPr lang="en-US" sz="1050" dirty="0">
                <a:solidFill>
                  <a:srgbClr val="1C2D3D"/>
                </a:solidFill>
                <a:latin typeface="Calibri" pitchFamily="34" charset="0"/>
              </a:rPr>
              <a:t>. JHA data scientists, compliance teams, and product analysts can aggregate cross-FI analytics — they can compare payment volumes, detect anomalies, and run cohort analysis across all FIs simultaneously.</a:t>
            </a:r>
          </a:p>
          <a:p>
            <a:pPr marL="0" indent="0">
              <a:buNone/>
            </a:pPr>
            <a:br>
              <a:rPr dirty="0"/>
            </a:br>
            <a:r>
              <a:rPr lang="en-US" sz="1050" b="1" dirty="0"/>
              <a:t>PLATINUM</a:t>
            </a:r>
            <a:endParaRPr sz="1050" b="1" dirty="0"/>
          </a:p>
          <a:p>
            <a:pPr marL="0" indent="0">
              <a:buNone/>
            </a:pPr>
            <a:r>
              <a:rPr lang="en-US" sz="1050" dirty="0">
                <a:solidFill>
                  <a:srgbClr val="1C2D3D"/>
                </a:solidFill>
                <a:latin typeface="Calibri" pitchFamily="34" charset="0"/>
              </a:rPr>
              <a:t>The Platinum Layer exists because FI customers need guaranteed data isolation that multi-tenant datasets cannot provide by contract. When FI_1 connects their Power BI directly to JHBI data, they need a GCP project that is provably theirs — with its own audit logs, its own budget, and zero blast radius from any other FI.</a:t>
            </a:r>
          </a:p>
        </p:txBody>
      </p:sp>
      <p:sp>
        <p:nvSpPr>
          <p:cNvPr id="24" name="Migration Rationale Header"/>
          <p:cNvSpPr/>
          <p:nvPr/>
        </p:nvSpPr>
        <p:spPr>
          <a:xfrm>
            <a:off x="6200000" y="3466400"/>
            <a:ext cx="5800000" cy="280000"/>
          </a:xfrm>
          <a:prstGeom prst="rect">
            <a:avLst/>
          </a:prstGeom>
          <a:solidFill>
            <a:srgbClr val="1E7A4A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Why Platinum Is Non-Negotiable for Migration</a:t>
            </a:r>
          </a:p>
        </p:txBody>
      </p:sp>
      <p:sp>
        <p:nvSpPr>
          <p:cNvPr id="25" name="Migration Rationale Content"/>
          <p:cNvSpPr/>
          <p:nvPr/>
        </p:nvSpPr>
        <p:spPr>
          <a:xfrm>
            <a:off x="6200000" y="3746400"/>
            <a:ext cx="5800000" cy="2756448"/>
          </a:xfrm>
          <a:prstGeom prst="rect">
            <a:avLst/>
          </a:prstGeom>
          <a:solidFill>
            <a:srgbClr val="F0FFF4"/>
          </a:solidFill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050" dirty="0" err="1">
                <a:solidFill>
                  <a:srgbClr val="1C3D1C"/>
                </a:solidFill>
                <a:latin typeface="Calibri" pitchFamily="34" charset="0"/>
              </a:rPr>
              <a:t>JHaKnow</a:t>
            </a:r>
            <a:r>
              <a:rPr lang="en-US" sz="1050" dirty="0">
                <a:solidFill>
                  <a:srgbClr val="1C3D1C"/>
                </a:solidFill>
                <a:latin typeface="Calibri" pitchFamily="34" charset="0"/>
              </a:rPr>
              <a:t> and ARCU are currently on-prem SQL Server solutions, each serving ~350 FI customers. These customers expect their data to be completely isolated — that is the model they have today with a dedicated on-prem instance.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US" sz="1050" dirty="0">
                <a:solidFill>
                  <a:srgbClr val="1C3D1C"/>
                </a:solidFill>
                <a:latin typeface="Calibri" pitchFamily="34" charset="0"/>
              </a:rPr>
              <a:t>Moving them to cloud without a per-FI project model would be a contractual and security regression. Platinum provides the cloud equivalent of “your own server” — while JHBI manages the infrastructure. The FI never touches GCP directly.</a:t>
            </a:r>
            <a:br>
              <a:rPr dirty="0"/>
            </a:br>
            <a:endParaRPr dirty="0"/>
          </a:p>
          <a:p>
            <a:pPr marL="0" indent="0">
              <a:buNone/>
            </a:pPr>
            <a:r>
              <a:rPr lang="en-US" sz="1050" dirty="0">
                <a:solidFill>
                  <a:srgbClr val="1C3D1C"/>
                </a:solidFill>
                <a:latin typeface="Calibri" pitchFamily="34" charset="0"/>
              </a:rPr>
              <a:t>New JHBI FIs also bring FI-specific data (custom payment types, proprietary reporting) that must be stored separately from the shared multi-tenant layer.</a:t>
            </a:r>
          </a:p>
        </p:txBody>
      </p:sp>
      <p:sp>
        <p:nvSpPr>
          <p:cNvPr id="26" name="Footer Bar"/>
          <p:cNvSpPr/>
          <p:nvPr/>
        </p:nvSpPr>
        <p:spPr>
          <a:xfrm>
            <a:off x="0" y="6566448"/>
            <a:ext cx="12192000" cy="291552"/>
          </a:xfrm>
          <a:prstGeom prst="rect">
            <a:avLst/>
          </a:prstGeom>
          <a:solidFill>
            <a:srgbClr val="1F4E7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8496A8"/>
                </a:solidFill>
                <a:latin typeface="Calibri" pitchFamily="34" charset="0"/>
              </a:rPr>
              <a:t>Jack Henry Business Intelligence  |  GCP Project Topology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opNavBar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4E79"/>
          </a:solidFill>
        </p:spPr>
        <p:txBody>
          <a:bodyPr wrap="square" rtlCol="0" anchor="t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Option A — Shared JHA Infrastructure  (Minimum Project Isolation)</a:t>
            </a:r>
          </a:p>
        </p:txBody>
      </p:sp>
      <p:sp>
        <p:nvSpPr>
          <p:cNvPr id="4" name="Subtitle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DC3E6"/>
                </a:solidFill>
                <a:latin typeface="Calibri" pitchFamily="34" charset="0"/>
              </a:rPr>
              <a:t>Current proposal: one shared JHA “DataHub” project — JHBI datasets separated by naming convention only  ·  Shared compute project with ALL of JHA (Composer, Dataflow, Cloud Run)</a:t>
            </a:r>
          </a:p>
        </p:txBody>
      </p:sp>
      <p:sp>
        <p:nvSpPr>
          <p:cNvPr id="5" name="LeftHeaderBox"/>
          <p:cNvSpPr/>
          <p:nvPr/>
        </p:nvSpPr>
        <p:spPr>
          <a:xfrm>
            <a:off x="320040" y="740000"/>
            <a:ext cx="4100000" cy="280000"/>
          </a:xfrm>
          <a:prstGeom prst="rect">
            <a:avLst/>
          </a:prstGeom>
          <a:solidFill>
            <a:srgbClr val="C55A11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/>
              <a:t>What Shared Means</a:t>
            </a:r>
          </a:p>
        </p:txBody>
      </p:sp>
      <p:sp>
        <p:nvSpPr>
          <p:cNvPr id="6" name="LeftContentBox"/>
          <p:cNvSpPr/>
          <p:nvPr/>
        </p:nvSpPr>
        <p:spPr>
          <a:xfrm>
            <a:off x="320040" y="1060000"/>
            <a:ext cx="4100000" cy="4800000"/>
          </a:xfrm>
          <a:prstGeom prst="rect">
            <a:avLst/>
          </a:prstGeom>
          <a:solidFill>
            <a:srgbClr val="FFF5F0"/>
          </a:solidFill>
          <a:ln w="19050">
            <a:solidFill>
              <a:srgbClr val="C55A11"/>
            </a:solidFill>
          </a:ln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050" dirty="0"/>
              <a:t>“DataHub” is one shared GCP project for ALL JHA product lines. JHBI BigQuery datasets sit alongside datasets from other JHA products, separated only by naming convention (</a:t>
            </a:r>
            <a:r>
              <a:rPr lang="en-US" sz="1050" dirty="0" err="1"/>
              <a:t>jhbi</a:t>
            </a:r>
            <a:r>
              <a:rPr lang="en-US" sz="1050" dirty="0"/>
              <a:t>_*, jhaknow_*, etc.). A service account scoped at the project level — common in shared projects — can read across all product data with no per-product boundary.</a:t>
            </a:r>
          </a:p>
          <a:p>
            <a:pPr marL="0" indent="0">
              <a:buNone/>
            </a:pPr>
            <a:r>
              <a:rPr lang="en-US" sz="800" dirty="0"/>
              <a:t> </a:t>
            </a:r>
          </a:p>
          <a:p>
            <a:pPr marL="0" indent="0">
              <a:buNone/>
            </a:pPr>
            <a:r>
              <a:rPr lang="en-US" sz="1050" dirty="0">
                <a:latin typeface="Calibri" pitchFamily="34" charset="0"/>
              </a:rPr>
              <a:t>Shared compute: Cloud Composer DAGs from JHBI, batch jobs  and pipelines from other JHA product lines all run in the same environment. A large bulk extract can starve JHBI real-time ingest of vCPU quota and BigQuery slots simultaneously.</a:t>
            </a:r>
          </a:p>
          <a:p>
            <a:pPr marL="0" indent="0">
              <a:buNone/>
            </a:pPr>
            <a:r>
              <a:rPr lang="en-US" sz="800" dirty="0"/>
              <a:t> </a:t>
            </a:r>
          </a:p>
          <a:p>
            <a:pPr marL="0" indent="0">
              <a:buNone/>
            </a:pPr>
            <a:r>
              <a:rPr lang="en-US" sz="1050" dirty="0">
                <a:latin typeface="Calibri" pitchFamily="34" charset="0"/>
              </a:rPr>
              <a:t>GCP billing is one line item for all JHA products. Isolating JHBI costs requires 100% job-label discipline across every team in the org — including teams JHBI does not control. Any team that skips a label silently breaks JHBI's cost attribution.</a:t>
            </a:r>
          </a:p>
          <a:p>
            <a:pPr marL="0" indent="0">
              <a:buNone/>
            </a:pPr>
            <a:r>
              <a:rPr lang="en-US" sz="800" dirty="0"/>
              <a:t> </a:t>
            </a:r>
          </a:p>
          <a:p>
            <a:pPr marL="0" indent="0">
              <a:buNone/>
            </a:pPr>
            <a:r>
              <a:rPr lang="en-US" sz="1050" dirty="0">
                <a:latin typeface="Calibri" pitchFamily="34" charset="0"/>
              </a:rPr>
              <a:t>PCI/SOC 2/GLBA auditors scope to the GCP project boundary. In DataHub, auditors must review ALL JHA product code, credentials, service accounts, and logs — not just JHBI. Audit surface and cost grow with every JHA team sharing the project.</a:t>
            </a:r>
          </a:p>
          <a:p>
            <a:pPr marL="0" indent="0">
              <a:buNone/>
            </a:pPr>
            <a:r>
              <a:rPr lang="en-US" sz="800" dirty="0"/>
              <a:t> 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</a:rPr>
              <a:t>EC2030 migration gap: </a:t>
            </a:r>
            <a:r>
              <a:rPr lang="en-US" sz="1050" dirty="0">
                <a:latin typeface="Calibri" pitchFamily="34" charset="0"/>
              </a:rPr>
              <a:t>The EC2030 initiative migrates ~700 JHaKnow/ARCU customers from dedicated on-prem SQL Server instances to cloud. DataHub has no per-FI landing zone. Migrated FI data lands in the shared project alongside all other JHA product data — a contractual and security regression from the on-prem model.</a:t>
            </a:r>
          </a:p>
        </p:txBody>
      </p:sp>
      <p:sp>
        <p:nvSpPr>
          <p:cNvPr id="7" name="CenterHeaderBox"/>
          <p:cNvSpPr/>
          <p:nvPr/>
        </p:nvSpPr>
        <p:spPr>
          <a:xfrm>
            <a:off x="4600000" y="740000"/>
            <a:ext cx="3200000" cy="280000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/>
              <a:t>Risk Summary</a:t>
            </a:r>
          </a:p>
        </p:txBody>
      </p:sp>
      <p:sp>
        <p:nvSpPr>
          <p:cNvPr id="8" name="RiskBox1"/>
          <p:cNvSpPr/>
          <p:nvPr/>
        </p:nvSpPr>
        <p:spPr>
          <a:xfrm>
            <a:off x="4600000" y="1060000"/>
            <a:ext cx="3200000" cy="850000"/>
          </a:xfrm>
          <a:prstGeom prst="rect">
            <a:avLst/>
          </a:prstGeom>
          <a:solidFill>
            <a:srgbClr val="FFF0F0"/>
          </a:solidFill>
          <a:ln w="19050">
            <a:solidFill>
              <a:srgbClr val="C00000"/>
            </a:solidFill>
          </a:ln>
        </p:spPr>
        <p:txBody>
          <a:bodyPr wrap="square" lIns="54000" tIns="36000" rIns="54000" rtlCol="0" anchor="t"/>
          <a:lstStyle/>
          <a:p>
            <a:pPr marL="0" indent="0">
              <a:buNone/>
            </a:pPr>
            <a:r>
              <a:rPr lang="en-US" sz="1100" b="1"/>
              <a:t>Blast Radius</a:t>
            </a:r>
          </a:p>
          <a:p>
            <a:pPr marL="0" indent="0">
              <a:buNone/>
            </a:pPr>
            <a:r>
              <a:rPr lang="en-US" sz="1000"/>
              <a:t>Misconfiguration in any JHA product affects JHBI. A deleted SA or over-broad IAM binding touches all products simultaneously.</a:t>
            </a:r>
          </a:p>
        </p:txBody>
      </p:sp>
      <p:sp>
        <p:nvSpPr>
          <p:cNvPr id="9" name="RiskBox2"/>
          <p:cNvSpPr/>
          <p:nvPr/>
        </p:nvSpPr>
        <p:spPr>
          <a:xfrm>
            <a:off x="4600000" y="2044194"/>
            <a:ext cx="3200000" cy="850000"/>
          </a:xfrm>
          <a:prstGeom prst="rect">
            <a:avLst/>
          </a:prstGeom>
          <a:solidFill>
            <a:srgbClr val="FFF0F0"/>
          </a:solidFill>
          <a:ln w="19050">
            <a:solidFill>
              <a:srgbClr val="C00000"/>
            </a:solidFill>
          </a:ln>
        </p:spPr>
        <p:txBody>
          <a:bodyPr wrap="square" lIns="54000" tIns="36000" rIns="54000" rtlCol="0" anchor="t"/>
          <a:lstStyle/>
          <a:p>
            <a:pPr marL="0" indent="0">
              <a:buNone/>
            </a:pPr>
            <a:r>
              <a:rPr lang="en-US" sz="1100" b="1"/>
              <a:t>Compliance Scope</a:t>
            </a:r>
          </a:p>
          <a:p>
            <a:pPr marL="0" indent="0">
              <a:buNone/>
            </a:pPr>
            <a:r>
              <a:rPr lang="en-US" sz="1000"/>
              <a:t>PCI QSA, SOC 2 auditors, and GLBA examiners scope to the GCP project boundary. JHBI cannot present a clean, minimal audit surface.</a:t>
            </a:r>
          </a:p>
        </p:txBody>
      </p:sp>
      <p:sp>
        <p:nvSpPr>
          <p:cNvPr id="10" name="RiskBox3"/>
          <p:cNvSpPr/>
          <p:nvPr/>
        </p:nvSpPr>
        <p:spPr>
          <a:xfrm>
            <a:off x="4600000" y="3028388"/>
            <a:ext cx="3200000" cy="850000"/>
          </a:xfrm>
          <a:prstGeom prst="rect">
            <a:avLst/>
          </a:prstGeom>
          <a:solidFill>
            <a:srgbClr val="FFF0F0"/>
          </a:solidFill>
          <a:ln w="19050">
            <a:solidFill>
              <a:srgbClr val="C00000"/>
            </a:solidFill>
          </a:ln>
        </p:spPr>
        <p:txBody>
          <a:bodyPr wrap="square" lIns="54000" tIns="36000" rIns="54000" rtlCol="0" anchor="t"/>
          <a:lstStyle/>
          <a:p>
            <a:pPr marL="0" indent="0">
              <a:buNone/>
            </a:pPr>
            <a:r>
              <a:rPr lang="en-US" sz="1100" b="1"/>
              <a:t>FI Data Isolation</a:t>
            </a:r>
          </a:p>
          <a:p>
            <a:pPr marL="0" indent="0">
              <a:buNone/>
            </a:pPr>
            <a:r>
              <a:rPr lang="en-US" sz="1000"/>
              <a:t>FI customer data (post-migration from JHaKnow/ARCU) sits in a project accessible to non-JHBI JHA engineers. Cannot guarantee per-FI data isolation contractually.</a:t>
            </a:r>
          </a:p>
        </p:txBody>
      </p:sp>
      <p:sp>
        <p:nvSpPr>
          <p:cNvPr id="11" name="RiskBox4"/>
          <p:cNvSpPr/>
          <p:nvPr/>
        </p:nvSpPr>
        <p:spPr>
          <a:xfrm>
            <a:off x="4600000" y="4012582"/>
            <a:ext cx="3200000" cy="850000"/>
          </a:xfrm>
          <a:prstGeom prst="rect">
            <a:avLst/>
          </a:prstGeom>
          <a:solidFill>
            <a:srgbClr val="FFF0F0"/>
          </a:solidFill>
          <a:ln w="19050">
            <a:solidFill>
              <a:srgbClr val="C00000"/>
            </a:solidFill>
          </a:ln>
        </p:spPr>
        <p:txBody>
          <a:bodyPr wrap="square" lIns="54000" tIns="36000" rIns="54000" rtlCol="0" anchor="t"/>
          <a:lstStyle/>
          <a:p>
            <a:pPr marL="0" indent="0">
              <a:buNone/>
            </a:pPr>
            <a:r>
              <a:rPr lang="en-US" sz="1100" b="1"/>
              <a:t>Cost Attribution</a:t>
            </a:r>
          </a:p>
          <a:p>
            <a:pPr marL="0" indent="0">
              <a:buNone/>
            </a:pPr>
            <a:r>
              <a:rPr lang="en-US" sz="1000"/>
              <a:t>Cannot produce a per-FI or per-product cost breakdown without 100% job label compliance. GCP has no native per-team billing within a shared project.</a:t>
            </a:r>
          </a:p>
        </p:txBody>
      </p:sp>
      <p:sp>
        <p:nvSpPr>
          <p:cNvPr id="12" name="RiskBox5"/>
          <p:cNvSpPr/>
          <p:nvPr/>
        </p:nvSpPr>
        <p:spPr>
          <a:xfrm>
            <a:off x="4571962" y="4996776"/>
            <a:ext cx="3200000" cy="850000"/>
          </a:xfrm>
          <a:prstGeom prst="rect">
            <a:avLst/>
          </a:prstGeom>
          <a:solidFill>
            <a:srgbClr val="FFF0F0"/>
          </a:solidFill>
          <a:ln w="19050">
            <a:solidFill>
              <a:srgbClr val="C00000"/>
            </a:solidFill>
          </a:ln>
        </p:spPr>
        <p:txBody>
          <a:bodyPr wrap="square" lIns="54000" tIns="36000" rIns="54000" rtlCol="0" anchor="t"/>
          <a:lstStyle/>
          <a:p>
            <a:pPr marL="0" indent="0">
              <a:buNone/>
            </a:pPr>
            <a:r>
              <a:rPr lang="en-US" sz="1100" b="1"/>
              <a:t>EC2030 Migration Gap</a:t>
            </a:r>
          </a:p>
          <a:p>
            <a:pPr marL="0" indent="0">
              <a:buNone/>
            </a:pPr>
            <a:r>
              <a:rPr lang="en-US" sz="1000"/>
              <a:t>DataHub has no dedicated landing zone for 700 JHaKnow/ARCU FI customers migrating under EC2030. Their data would land in the shared project with no per-FI isolation — worse than the on-prem model.</a:t>
            </a:r>
          </a:p>
        </p:txBody>
      </p:sp>
      <p:sp>
        <p:nvSpPr>
          <p:cNvPr id="13" name="RightHeaderBox"/>
          <p:cNvSpPr/>
          <p:nvPr/>
        </p:nvSpPr>
        <p:spPr>
          <a:xfrm>
            <a:off x="8000000" y="740000"/>
            <a:ext cx="3900000" cy="280000"/>
          </a:xfrm>
          <a:prstGeom prst="rect">
            <a:avLst/>
          </a:prstGeom>
          <a:solidFill>
            <a:srgbClr val="2E75B6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/>
              <a:t>Why Option A</a:t>
            </a:r>
          </a:p>
        </p:txBody>
      </p:sp>
      <p:sp>
        <p:nvSpPr>
          <p:cNvPr id="14" name="RightContentBox1"/>
          <p:cNvSpPr/>
          <p:nvPr/>
        </p:nvSpPr>
        <p:spPr>
          <a:xfrm>
            <a:off x="8000000" y="1060000"/>
            <a:ext cx="3900000" cy="2300000"/>
          </a:xfrm>
          <a:prstGeom prst="rect">
            <a:avLst/>
          </a:prstGeom>
          <a:solidFill>
            <a:srgbClr val="F0F4FB"/>
          </a:solidFill>
          <a:ln w="19050">
            <a:solidFill>
              <a:srgbClr val="2E75B6"/>
            </a:solidFill>
          </a:ln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050"/>
              <a:t>✓  No new GCP project provisioning required. Uses existing JHA org structure.</a:t>
            </a:r>
          </a:p>
          <a:p>
            <a:pPr marL="0" indent="0">
              <a:buNone/>
            </a:pPr>
            <a:r>
              <a:rPr lang="en-US" sz="800"/>
              <a:t> </a:t>
            </a:r>
          </a:p>
          <a:p>
            <a:pPr marL="0" indent="0">
              <a:buNone/>
            </a:pPr>
            <a:r>
              <a:rPr lang="en-US" sz="1050"/>
              <a:t>✓  Fastest path to first deployment — no Terraform project scaffolding needed upfront.</a:t>
            </a:r>
          </a:p>
          <a:p>
            <a:pPr marL="0" indent="0">
              <a:buNone/>
            </a:pPr>
            <a:r>
              <a:rPr lang="en-US" sz="800"/>
              <a:t> </a:t>
            </a:r>
          </a:p>
          <a:p>
            <a:pPr marL="0" indent="0">
              <a:buNone/>
            </a:pPr>
            <a:r>
              <a:rPr lang="en-US" sz="1050"/>
              <a:t>✓  Shared support model — JHA platform team already manages the projects.</a:t>
            </a:r>
          </a:p>
          <a:p>
            <a:pPr marL="0" indent="0">
              <a:buNone/>
            </a:pPr>
            <a:r>
              <a:rPr lang="en-US" sz="800"/>
              <a:t> </a:t>
            </a:r>
          </a:p>
          <a:p>
            <a:pPr marL="0" indent="0">
              <a:buNone/>
            </a:pPr>
            <a:r>
              <a:rPr lang="en-US" sz="1050"/>
              <a:t>✓  Lower initial cost perception — no dedicated project overhead.</a:t>
            </a:r>
          </a:p>
        </p:txBody>
      </p:sp>
      <p:sp>
        <p:nvSpPr>
          <p:cNvPr id="15" name="WarningHeaderBox"/>
          <p:cNvSpPr/>
          <p:nvPr/>
        </p:nvSpPr>
        <p:spPr>
          <a:xfrm>
            <a:off x="8000000" y="3500000"/>
            <a:ext cx="3900000" cy="280000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/>
              <a:t>⚠  The Hidden Costs</a:t>
            </a:r>
          </a:p>
        </p:txBody>
      </p:sp>
      <p:sp>
        <p:nvSpPr>
          <p:cNvPr id="16" name="RightContentBox2"/>
          <p:cNvSpPr/>
          <p:nvPr/>
        </p:nvSpPr>
        <p:spPr>
          <a:xfrm>
            <a:off x="8000000" y="3820000"/>
            <a:ext cx="3900000" cy="1400000"/>
          </a:xfrm>
          <a:prstGeom prst="rect">
            <a:avLst/>
          </a:prstGeom>
          <a:solidFill>
            <a:srgbClr val="FFF0F0"/>
          </a:solidFill>
          <a:ln w="19050">
            <a:solidFill>
              <a:srgbClr val="C00000"/>
            </a:solidFill>
          </a:ln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000"/>
              <a:t>Short-term convenience becomes long-term liability once FI customers are live. Untangling shared infrastructure post-launch requires coordinated downtime across ALL JHA products in the project — not just JHBI.</a:t>
            </a:r>
          </a:p>
          <a:p>
            <a:pPr marL="0" indent="0">
              <a:buNone/>
            </a:pPr>
            <a:r>
              <a:rPr lang="en-US" sz="800"/>
              <a:t> </a:t>
            </a:r>
          </a:p>
          <a:p>
            <a:pPr marL="0" indent="0">
              <a:buNone/>
            </a:pPr>
            <a:r>
              <a:rPr lang="en-US" sz="1000"/>
              <a:t>Option A is viable for a proof-of-concept with synthetic data. It is not a production architecture for a multi-tenant FI data platform.</a:t>
            </a:r>
          </a:p>
        </p:txBody>
      </p:sp>
      <p:sp>
        <p:nvSpPr>
          <p:cNvPr id="17" name="BottomBar"/>
          <p:cNvSpPr/>
          <p:nvPr/>
        </p:nvSpPr>
        <p:spPr>
          <a:xfrm>
            <a:off x="320040" y="5960000"/>
            <a:ext cx="11500000" cy="380000"/>
          </a:xfrm>
          <a:prstGeom prst="rect">
            <a:avLst/>
          </a:prstGeom>
          <a:solidFill>
            <a:srgbClr val="1F4E79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2"/>
                </a:solidFill>
              </a:rPr>
              <a:t>Bottom Line: DataHub (Option A) trades compliance isolation, per-FI data guarantees, and EC2030 migration readiness for short-term setup convenience. It cannot serve as the landing zone for 700 JHaKnow/ARCU FI customers migrating under EC2030 — Option B provides the only viable path.</a:t>
            </a:r>
          </a:p>
        </p:txBody>
      </p:sp>
      <p:sp>
        <p:nvSpPr>
          <p:cNvPr id="18" name="FooterBar"/>
          <p:cNvSpPr/>
          <p:nvPr/>
        </p:nvSpPr>
        <p:spPr>
          <a:xfrm>
            <a:off x="0" y="6566448"/>
            <a:ext cx="12192000" cy="291552"/>
          </a:xfrm>
          <a:prstGeom prst="rect">
            <a:avLst/>
          </a:prstGeom>
          <a:solidFill>
            <a:srgbClr val="1F4E79"/>
          </a:solidFill>
        </p:spPr>
        <p:txBody>
          <a:bodyPr wrap="square" rtlCol="0" anchor="ctr"/>
          <a:lstStyle/>
          <a:p>
            <a:endParaRPr/>
          </a:p>
        </p:txBody>
      </p:sp>
      <p:sp>
        <p:nvSpPr>
          <p:cNvPr id="19" name="FooterText"/>
          <p:cNvSpPr/>
          <p:nvPr/>
        </p:nvSpPr>
        <p:spPr>
          <a:xfrm>
            <a:off x="320040" y="6590000"/>
            <a:ext cx="11430000" cy="2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/>
              <a:t>Jack Henry Business Intelligence  |  GCP Project Topology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Slide 14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  <a:solidFill>
          <a:srgbClr val="FFFFFF"/>
        </a:solidFill>
        <a:effectLst/>
      </p:grpSpPr>
      <p:sp>
        <p:nvSpPr>
          <p:cNvPr id="2" name="Top Nav Bar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4E79"/>
          </a:solidFill>
        </p:spPr>
        <p:txBody>
          <a:bodyPr wrap="square" lIns="72000" tIns="54000" rIns="72000" rtlCol="0" anchor="t"/>
          <a:lstStyle/>
          <a:p>
            <a:pPr marL="0" indent="0">
              <a:buNone/>
            </a:pPr>
            <a:endParaRPr/>
          </a:p>
        </p:txBody>
      </p:sp>
      <p:sp>
        <p:nvSpPr>
          <p:cNvPr id="3" name="Title Text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</p:spPr>
        <p:txBody>
          <a:bodyPr wrap="square" lIns="0" tIns="0" r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</a:rPr>
              <a:t>Option B — Dedicated JHBI Project Hierarchy (Best Practice Isolation)</a:t>
            </a:r>
          </a:p>
        </p:txBody>
      </p:sp>
      <p:sp>
        <p:nvSpPr>
          <p:cNvPr id="4" name="Subtitle Text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</p:spPr>
        <p:txBody>
          <a:bodyPr wrap="square" lIns="0" tIns="0" r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9DC3E6"/>
                </a:solidFill>
                <a:latin typeface="Calibri" pitchFamily="34" charset="0"/>
              </a:rPr>
              <a:t>JHBI owns its own GCP project tree under the Jack Henry org · Separate IAM, billing, blast radius, and compliance scope from all other JHA products</a:t>
            </a:r>
          </a:p>
        </p:txBody>
      </p:sp>
      <p:sp>
        <p:nvSpPr>
          <p:cNvPr id="5" name="Box 1 Header"/>
          <p:cNvSpPr/>
          <p:nvPr/>
        </p:nvSpPr>
        <p:spPr>
          <a:xfrm>
            <a:off x="320040" y="740000"/>
            <a:ext cx="3600000" cy="260000"/>
          </a:xfrm>
          <a:prstGeom prst="rect">
            <a:avLst/>
          </a:prstGeom>
          <a:solidFill>
            <a:srgbClr val="C55A11"/>
          </a:solidFill>
        </p:spPr>
        <p:txBody>
          <a:bodyPr wrap="square" lIns="0" tIns="0" r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</a:rPr>
              <a:t>jhbi-pci-prod</a:t>
            </a:r>
          </a:p>
        </p:txBody>
      </p:sp>
      <p:sp>
        <p:nvSpPr>
          <p:cNvPr id="6" name="Box 1 Tag"/>
          <p:cNvSpPr/>
          <p:nvPr/>
        </p:nvSpPr>
        <p:spPr>
          <a:xfrm>
            <a:off x="320040" y="1030480"/>
            <a:ext cx="3600000" cy="100000"/>
          </a:xfrm>
          <a:prstGeom prst="rect">
            <a:avLst/>
          </a:prstGeom>
          <a:solidFill>
            <a:srgbClr val="FFF5F0"/>
          </a:solidFill>
        </p:spPr>
        <p:txBody>
          <a:bodyPr wrap="square" lIns="0" tIns="0" r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</a:rPr>
              <a:t>PCI Scope Boundary</a:t>
            </a:r>
          </a:p>
        </p:txBody>
      </p:sp>
      <p:sp>
        <p:nvSpPr>
          <p:cNvPr id="7" name="Box 1 Body"/>
          <p:cNvSpPr/>
          <p:nvPr/>
        </p:nvSpPr>
        <p:spPr>
          <a:xfrm>
            <a:off x="320040" y="1100000"/>
            <a:ext cx="3600000" cy="1140000"/>
          </a:xfrm>
          <a:prstGeom prst="rect">
            <a:avLst/>
          </a:prstGeom>
          <a:solidFill>
            <a:srgbClr val="FFF5F0"/>
          </a:solidFill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3D1C1C"/>
                </a:solidFill>
                <a:latin typeface="Calibri" pitchFamily="34" charset="0"/>
              </a:rPr>
              <a:t>real-time CDC ingest · Cloud Pub/Sub</a:t>
            </a:r>
          </a:p>
          <a:p>
            <a:pPr marL="0" indent="0">
              <a:buNone/>
            </a:pPr>
            <a:r>
              <a:rPr lang="en-US" sz="1000">
                <a:solidFill>
                  <a:srgbClr val="3D1C1C"/>
                </a:solidFill>
                <a:latin typeface="Calibri" pitchFamily="34" charset="0"/>
              </a:rPr>
              <a:t>Cloud Dataflow + DLP tokenization</a:t>
            </a:r>
          </a:p>
          <a:p>
            <a:pPr marL="0" indent="0">
              <a:buNone/>
            </a:pPr>
            <a:r>
              <a:rPr lang="en-US" sz="1000">
                <a:solidFill>
                  <a:srgbClr val="3D1C1C"/>
                </a:solidFill>
                <a:latin typeface="Calibri" pitchFamily="34" charset="0"/>
              </a:rPr>
              <a:t>Cloud KMS key rings (FPE-AES)</a:t>
            </a:r>
          </a:p>
          <a:p>
            <a:pPr marL="0" indent="0">
              <a:buNone/>
            </a:pPr>
            <a:r>
              <a:rPr lang="en-US" sz="1000">
                <a:solidFill>
                  <a:srgbClr val="3D1C1C"/>
                </a:solidFill>
                <a:latin typeface="Calibri" pitchFamily="34" charset="0"/>
              </a:rPr>
              <a:t>PCI token vault (FPE-AES tokenization service)</a:t>
            </a:r>
          </a:p>
          <a:p>
            <a:pPr marL="0" indent="0">
              <a:buNone/>
            </a:pPr>
            <a:r>
              <a:rPr lang="en-US" sz="1000">
                <a:solidFill>
                  <a:srgbClr val="3D1C1C"/>
                </a:solidFill>
                <a:latin typeface="Calibri" pitchFamily="34" charset="0"/>
              </a:rPr>
              <a:t>Blast radius: ingest only. Never touches Gold or Platinum.</a:t>
            </a:r>
          </a:p>
        </p:txBody>
      </p:sp>
      <p:sp>
        <p:nvSpPr>
          <p:cNvPr id="8" name="Box 2 Header"/>
          <p:cNvSpPr/>
          <p:nvPr/>
        </p:nvSpPr>
        <p:spPr>
          <a:xfrm>
            <a:off x="4120000" y="740000"/>
            <a:ext cx="3700000" cy="260000"/>
          </a:xfrm>
          <a:prstGeom prst="rect">
            <a:avLst/>
          </a:prstGeom>
          <a:solidFill>
            <a:srgbClr val="1F4E79"/>
          </a:solidFill>
        </p:spPr>
        <p:txBody>
          <a:bodyPr wrap="square" lIns="0" tIns="0" r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</a:rPr>
              <a:t>jhbi-datalake-prod</a:t>
            </a:r>
          </a:p>
        </p:txBody>
      </p:sp>
      <p:sp>
        <p:nvSpPr>
          <p:cNvPr id="9" name="Box 2 Tag"/>
          <p:cNvSpPr/>
          <p:nvPr/>
        </p:nvSpPr>
        <p:spPr>
          <a:xfrm>
            <a:off x="4120000" y="1030480"/>
            <a:ext cx="3700000" cy="100000"/>
          </a:xfrm>
          <a:prstGeom prst="rect">
            <a:avLst/>
          </a:prstGeom>
          <a:solidFill>
            <a:srgbClr val="EBF3FB"/>
          </a:solidFill>
        </p:spPr>
        <p:txBody>
          <a:bodyPr wrap="square" lIns="0" tIns="0" r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</a:rPr>
              <a:t>Bronze · Silver · Gold</a:t>
            </a:r>
          </a:p>
        </p:txBody>
      </p:sp>
      <p:sp>
        <p:nvSpPr>
          <p:cNvPr id="10" name="Box 2 Body"/>
          <p:cNvSpPr/>
          <p:nvPr/>
        </p:nvSpPr>
        <p:spPr>
          <a:xfrm>
            <a:off x="4120000" y="1100000"/>
            <a:ext cx="3700000" cy="1140000"/>
          </a:xfrm>
          <a:prstGeom prst="rect">
            <a:avLst/>
          </a:prstGeom>
          <a:solidFill>
            <a:srgbClr val="EBF3FB"/>
          </a:solidFill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F4E79"/>
                </a:solidFill>
                <a:latin typeface="Calibri" pitchFamily="34" charset="0"/>
              </a:rPr>
              <a:t>BigQuery Bronze/Silver/Gold datasets</a:t>
            </a:r>
          </a:p>
          <a:p>
            <a:pPr marL="0" indent="0">
              <a:buNone/>
            </a:pPr>
            <a:r>
              <a:rPr lang="en-US" sz="1000">
                <a:solidFill>
                  <a:srgbClr val="1F4E79"/>
                </a:solidFill>
                <a:latin typeface="Calibri" pitchFamily="34" charset="0"/>
              </a:rPr>
              <a:t>Entity Resolution Service (JHBI custom)</a:t>
            </a:r>
          </a:p>
          <a:p>
            <a:pPr marL="0" indent="0">
              <a:buNone/>
            </a:pPr>
            <a:r>
              <a:rPr lang="en-US" sz="1000">
                <a:solidFill>
                  <a:srgbClr val="1F4E79"/>
                </a:solidFill>
                <a:latin typeface="Calibri" pitchFamily="34" charset="0"/>
              </a:rPr>
              <a:t>Dataplex governance · Analytics Hub</a:t>
            </a:r>
          </a:p>
          <a:p>
            <a:pPr marL="0" indent="0">
              <a:buNone/>
            </a:pPr>
            <a:r>
              <a:rPr lang="en-US" sz="1000">
                <a:solidFill>
                  <a:srgbClr val="1F4E79"/>
                </a:solidFill>
                <a:latin typeface="Calibri" pitchFamily="34" charset="0"/>
              </a:rPr>
              <a:t>BI Engine reservation · CMEK keys</a:t>
            </a:r>
          </a:p>
          <a:p>
            <a:pPr marL="0" indent="0">
              <a:buNone/>
            </a:pPr>
            <a:r>
              <a:rPr lang="en-US" sz="1000">
                <a:solidFill>
                  <a:srgbClr val="1F4E79"/>
                </a:solidFill>
                <a:latin typeface="Calibri" pitchFamily="34" charset="0"/>
              </a:rPr>
              <a:t>JHA internal cross-FI analytics only. FI-facing data served via Platinum.</a:t>
            </a:r>
          </a:p>
        </p:txBody>
      </p:sp>
      <p:sp>
        <p:nvSpPr>
          <p:cNvPr id="11" name="Box 3 Header"/>
          <p:cNvSpPr/>
          <p:nvPr/>
        </p:nvSpPr>
        <p:spPr>
          <a:xfrm>
            <a:off x="8020000" y="740000"/>
            <a:ext cx="3850000" cy="260000"/>
          </a:xfrm>
          <a:prstGeom prst="rect">
            <a:avLst/>
          </a:prstGeom>
          <a:solidFill>
            <a:srgbClr val="2E75B6"/>
          </a:solidFill>
        </p:spPr>
        <p:txBody>
          <a:bodyPr wrap="square" lIns="0" tIns="0" r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</a:rPr>
              <a:t>jhbi-compute-prod</a:t>
            </a:r>
          </a:p>
        </p:txBody>
      </p:sp>
      <p:sp>
        <p:nvSpPr>
          <p:cNvPr id="12" name="Box 3 Tag"/>
          <p:cNvSpPr/>
          <p:nvPr/>
        </p:nvSpPr>
        <p:spPr>
          <a:xfrm>
            <a:off x="8020000" y="1030480"/>
            <a:ext cx="3850000" cy="100000"/>
          </a:xfrm>
          <a:prstGeom prst="rect">
            <a:avLst/>
          </a:prstGeom>
          <a:solidFill>
            <a:srgbClr val="F0F5FF"/>
          </a:solidFill>
        </p:spPr>
        <p:txBody>
          <a:bodyPr wrap="square" lIns="0" tIns="0" r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</a:rPr>
              <a:t>Orchestration &amp; Serving</a:t>
            </a:r>
          </a:p>
        </p:txBody>
      </p:sp>
      <p:sp>
        <p:nvSpPr>
          <p:cNvPr id="13" name="Box 3 Body"/>
          <p:cNvSpPr/>
          <p:nvPr/>
        </p:nvSpPr>
        <p:spPr>
          <a:xfrm>
            <a:off x="8020000" y="1100000"/>
            <a:ext cx="3850000" cy="1140000"/>
          </a:xfrm>
          <a:prstGeom prst="rect">
            <a:avLst/>
          </a:prstGeom>
          <a:solidFill>
            <a:srgbClr val="F0F5FF"/>
          </a:solidFill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E75B6"/>
                </a:solidFill>
                <a:latin typeface="Calibri" pitchFamily="34" charset="0"/>
              </a:rPr>
              <a:t>Cloud Composer (Airflow) — JHBI DAGs only</a:t>
            </a:r>
          </a:p>
          <a:p>
            <a:pPr marL="0" indent="0">
              <a:buNone/>
            </a:pPr>
            <a:r>
              <a:rPr lang="en-US" sz="1000">
                <a:solidFill>
                  <a:srgbClr val="2E75B6"/>
                </a:solidFill>
                <a:latin typeface="Calibri" pitchFamily="34" charset="0"/>
              </a:rPr>
              <a:t>Dataform orchestration</a:t>
            </a:r>
          </a:p>
          <a:p>
            <a:pPr marL="0" indent="0">
              <a:buNone/>
            </a:pPr>
            <a:r>
              <a:rPr lang="en-US" sz="1000">
                <a:solidFill>
                  <a:srgbClr val="2E75B6"/>
                </a:solidFill>
                <a:latin typeface="Calibri" pitchFamily="34" charset="0"/>
              </a:rPr>
              <a:t>Cloud Run (API + Portal backend)</a:t>
            </a:r>
          </a:p>
          <a:p>
            <a:pPr marL="0" indent="0">
              <a:buNone/>
            </a:pPr>
            <a:r>
              <a:rPr lang="en-US" sz="1000">
                <a:solidFill>
                  <a:srgbClr val="2E75B6"/>
                </a:solidFill>
                <a:latin typeface="Calibri" pitchFamily="34" charset="0"/>
              </a:rPr>
              <a:t>API Gateway · Firebase Hosting</a:t>
            </a:r>
          </a:p>
          <a:p>
            <a:pPr marL="0" indent="0">
              <a:buNone/>
            </a:pPr>
            <a:r>
              <a:rPr lang="en-US" sz="1000">
                <a:solidFill>
                  <a:srgbClr val="2E75B6"/>
                </a:solidFill>
                <a:latin typeface="Calibri" pitchFamily="34" charset="0"/>
              </a:rPr>
              <a:t>No JHaKnow or ARCU jobs. Clean SLA boundary.</a:t>
            </a:r>
          </a:p>
        </p:txBody>
      </p:sp>
      <p:sp>
        <p:nvSpPr>
          <p:cNvPr id="14" name="Box 4 Header"/>
          <p:cNvSpPr/>
          <p:nvPr/>
        </p:nvSpPr>
        <p:spPr>
          <a:xfrm>
            <a:off x="320040" y="2440000"/>
            <a:ext cx="3600000" cy="260000"/>
          </a:xfrm>
          <a:prstGeom prst="rect">
            <a:avLst/>
          </a:prstGeom>
          <a:solidFill>
            <a:srgbClr val="36454F"/>
          </a:solidFill>
        </p:spPr>
        <p:txBody>
          <a:bodyPr wrap="square" lIns="0" tIns="0" r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</a:rPr>
              <a:t>jhbi-security-prod</a:t>
            </a:r>
          </a:p>
        </p:txBody>
      </p:sp>
      <p:sp>
        <p:nvSpPr>
          <p:cNvPr id="15" name="Box 4 Tag"/>
          <p:cNvSpPr/>
          <p:nvPr/>
        </p:nvSpPr>
        <p:spPr>
          <a:xfrm>
            <a:off x="320040" y="2730480"/>
            <a:ext cx="3600000" cy="100000"/>
          </a:xfrm>
          <a:prstGeom prst="rect">
            <a:avLst/>
          </a:prstGeom>
          <a:solidFill>
            <a:srgbClr val="F8F8F8"/>
          </a:solidFill>
        </p:spPr>
        <p:txBody>
          <a:bodyPr wrap="square" lIns="0" tIns="0" r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</a:rPr>
              <a:t>Keys · Secrets · SCC</a:t>
            </a:r>
          </a:p>
        </p:txBody>
      </p:sp>
      <p:sp>
        <p:nvSpPr>
          <p:cNvPr id="16" name="Box 4 Body"/>
          <p:cNvSpPr/>
          <p:nvPr/>
        </p:nvSpPr>
        <p:spPr>
          <a:xfrm>
            <a:off x="320040" y="2800000"/>
            <a:ext cx="3600000" cy="1140000"/>
          </a:xfrm>
          <a:prstGeom prst="rect">
            <a:avLst/>
          </a:prstGeom>
          <a:solidFill>
            <a:srgbClr val="F8F8F8"/>
          </a:solidFill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36454F"/>
                </a:solidFill>
                <a:latin typeface="Calibri" pitchFamily="34" charset="0"/>
              </a:rPr>
              <a:t>Cloud KMS (CMEK key rings: PCI/PII/General)</a:t>
            </a:r>
          </a:p>
          <a:p>
            <a:pPr marL="0" indent="0">
              <a:buNone/>
            </a:pPr>
            <a:r>
              <a:rPr lang="en-US" sz="1000">
                <a:solidFill>
                  <a:srgbClr val="36454F"/>
                </a:solidFill>
                <a:latin typeface="Calibri" pitchFamily="34" charset="0"/>
              </a:rPr>
              <a:t>Secret Manager (all credentials)</a:t>
            </a:r>
          </a:p>
          <a:p>
            <a:pPr marL="0" indent="0">
              <a:buNone/>
            </a:pPr>
            <a:r>
              <a:rPr lang="en-US" sz="1000">
                <a:solidFill>
                  <a:srgbClr val="36454F"/>
                </a:solidFill>
                <a:latin typeface="Calibri" pitchFamily="34" charset="0"/>
              </a:rPr>
              <a:t>Security Command Center Premium</a:t>
            </a:r>
          </a:p>
          <a:p>
            <a:pPr marL="0" indent="0">
              <a:buNone/>
            </a:pPr>
            <a:r>
              <a:rPr lang="en-US" sz="1000">
                <a:solidFill>
                  <a:srgbClr val="36454F"/>
                </a:solidFill>
                <a:latin typeface="Calibri" pitchFamily="34" charset="0"/>
              </a:rPr>
              <a:t>Cloud Armor WAF · VPC Service Controls</a:t>
            </a:r>
          </a:p>
          <a:p>
            <a:pPr marL="0" indent="0">
              <a:buNone/>
            </a:pPr>
            <a:r>
              <a:rPr lang="en-US" sz="1000">
                <a:solidFill>
                  <a:srgbClr val="36454F"/>
                </a:solidFill>
                <a:latin typeface="Calibri" pitchFamily="34" charset="0"/>
              </a:rPr>
              <a:t>GLBA Safeguards · SOC 2 CC6-CC7 · FFIEC</a:t>
            </a:r>
          </a:p>
        </p:txBody>
      </p:sp>
      <p:sp>
        <p:nvSpPr>
          <p:cNvPr id="17" name="Box 5 Header"/>
          <p:cNvSpPr/>
          <p:nvPr/>
        </p:nvSpPr>
        <p:spPr>
          <a:xfrm>
            <a:off x="4120000" y="2440000"/>
            <a:ext cx="3700000" cy="260000"/>
          </a:xfrm>
          <a:prstGeom prst="rect">
            <a:avLst/>
          </a:prstGeom>
          <a:solidFill>
            <a:srgbClr val="1E7A4A"/>
          </a:solidFill>
        </p:spPr>
        <p:txBody>
          <a:bodyPr wrap="square" lIns="0" tIns="0" r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</a:rPr>
              <a:t>jhbi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-fi-{name}-prod</a:t>
            </a:r>
          </a:p>
        </p:txBody>
      </p:sp>
      <p:sp>
        <p:nvSpPr>
          <p:cNvPr id="18" name="Box 5 Tag"/>
          <p:cNvSpPr/>
          <p:nvPr/>
        </p:nvSpPr>
        <p:spPr>
          <a:xfrm>
            <a:off x="4120000" y="2720320"/>
            <a:ext cx="3700000" cy="100000"/>
          </a:xfrm>
          <a:prstGeom prst="rect">
            <a:avLst/>
          </a:prstGeom>
          <a:solidFill>
            <a:srgbClr val="F0FFF4"/>
          </a:solidFill>
        </p:spPr>
        <p:txBody>
          <a:bodyPr wrap="square" lIns="0" tIns="0" r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A"/>
                </a:solidFill>
                <a:latin typeface="Calibri" pitchFamily="34" charset="0"/>
              </a:rPr>
              <a:t>PLATINUM — One Per FI</a:t>
            </a:r>
          </a:p>
        </p:txBody>
      </p:sp>
      <p:sp>
        <p:nvSpPr>
          <p:cNvPr id="19" name="Box 5 Body"/>
          <p:cNvSpPr/>
          <p:nvPr/>
        </p:nvSpPr>
        <p:spPr>
          <a:xfrm>
            <a:off x="4120000" y="2800000"/>
            <a:ext cx="3700000" cy="1140000"/>
          </a:xfrm>
          <a:prstGeom prst="rect">
            <a:avLst/>
          </a:prstGeom>
          <a:solidFill>
            <a:srgbClr val="F0FFF4"/>
          </a:solidFill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E7A4A"/>
                </a:solidFill>
                <a:latin typeface="Calibri" pitchFamily="34" charset="0"/>
              </a:rPr>
              <a:t>Per-FI BigQuery Platinum dataset</a:t>
            </a:r>
          </a:p>
          <a:p>
            <a:pPr marL="0" indent="0">
              <a:buNone/>
            </a:pPr>
            <a:r>
              <a:rPr lang="en-US" sz="1000">
                <a:solidFill>
                  <a:srgbClr val="1E7A4A"/>
                </a:solidFill>
                <a:latin typeface="Calibri" pitchFamily="34" charset="0"/>
              </a:rPr>
              <a:t>Per-FI service account (JHBI-provisioned)</a:t>
            </a:r>
          </a:p>
          <a:p>
            <a:pPr marL="0" indent="0">
              <a:buNone/>
            </a:pPr>
            <a:r>
              <a:rPr lang="en-US" sz="1000">
                <a:solidFill>
                  <a:srgbClr val="1E7A4A"/>
                </a:solidFill>
                <a:latin typeface="Calibri" pitchFamily="34" charset="0"/>
              </a:rPr>
              <a:t>Per-FI budget alert + quota</a:t>
            </a:r>
          </a:p>
          <a:p>
            <a:pPr marL="0" indent="0">
              <a:buNone/>
            </a:pPr>
            <a:r>
              <a:rPr lang="en-US" sz="1000">
                <a:solidFill>
                  <a:srgbClr val="1E7A4A"/>
                </a:solidFill>
                <a:latin typeface="Calibri" pitchFamily="34" charset="0"/>
              </a:rPr>
              <a:t>FI data fully isolated from all other FIs</a:t>
            </a:r>
          </a:p>
          <a:p>
            <a:pPr marL="0" indent="0">
              <a:buNone/>
            </a:pPr>
            <a:r>
              <a:rPr lang="en-US" sz="1000">
                <a:solidFill>
                  <a:srgbClr val="1E7A4A"/>
                </a:solidFill>
                <a:latin typeface="Calibri" pitchFamily="34" charset="0"/>
              </a:rPr>
              <a:t>Terraform-provisioned. Used for JHaKnow/ARCU migration + new JHBI FIs.</a:t>
            </a:r>
          </a:p>
        </p:txBody>
      </p:sp>
      <p:sp>
        <p:nvSpPr>
          <p:cNvPr id="20" name="Box 6 Header"/>
          <p:cNvSpPr/>
          <p:nvPr/>
        </p:nvSpPr>
        <p:spPr>
          <a:xfrm>
            <a:off x="8020000" y="2440000"/>
            <a:ext cx="3850000" cy="260000"/>
          </a:xfrm>
          <a:prstGeom prst="rect">
            <a:avLst/>
          </a:prstGeom>
          <a:solidFill>
            <a:srgbClr val="7B3F1A"/>
          </a:solidFill>
        </p:spPr>
        <p:txBody>
          <a:bodyPr wrap="square" lIns="0" tIns="0" r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</a:rPr>
              <a:t>jhbi-network-prod</a:t>
            </a:r>
          </a:p>
        </p:txBody>
      </p:sp>
      <p:sp>
        <p:nvSpPr>
          <p:cNvPr id="21" name="Box 6 Tag"/>
          <p:cNvSpPr/>
          <p:nvPr/>
        </p:nvSpPr>
        <p:spPr>
          <a:xfrm>
            <a:off x="8020000" y="2730480"/>
            <a:ext cx="3850000" cy="100000"/>
          </a:xfrm>
          <a:prstGeom prst="rect">
            <a:avLst/>
          </a:prstGeom>
          <a:solidFill>
            <a:srgbClr val="FFF8F0"/>
          </a:solidFill>
        </p:spPr>
        <p:txBody>
          <a:bodyPr wrap="square" lIns="0" tIns="0" r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3F1A"/>
                </a:solidFill>
                <a:latin typeface="Calibri" pitchFamily="34" charset="0"/>
              </a:rPr>
              <a:t>Shared VPC · Network Controls</a:t>
            </a:r>
          </a:p>
        </p:txBody>
      </p:sp>
      <p:sp>
        <p:nvSpPr>
          <p:cNvPr id="22" name="Box 6 Body"/>
          <p:cNvSpPr/>
          <p:nvPr/>
        </p:nvSpPr>
        <p:spPr>
          <a:xfrm>
            <a:off x="8020000" y="2800000"/>
            <a:ext cx="3850000" cy="1140000"/>
          </a:xfrm>
          <a:prstGeom prst="rect">
            <a:avLst/>
          </a:prstGeom>
          <a:solidFill>
            <a:srgbClr val="FFF8F0"/>
          </a:solidFill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7B3F1A"/>
                </a:solidFill>
                <a:latin typeface="Calibri" pitchFamily="34" charset="0"/>
              </a:rPr>
              <a:t>Shared VPC host — private subnets per project</a:t>
            </a:r>
          </a:p>
          <a:p>
            <a:pPr marL="0" indent="0">
              <a:buNone/>
            </a:pPr>
            <a:r>
              <a:rPr lang="en-US" sz="1000">
                <a:solidFill>
                  <a:srgbClr val="7B3F1A"/>
                </a:solidFill>
                <a:latin typeface="Calibri" pitchFamily="34" charset="0"/>
              </a:rPr>
              <a:t>Private Service Connect (BigQuery / Entity Resolution Service)</a:t>
            </a:r>
          </a:p>
          <a:p>
            <a:pPr marL="0" indent="0">
              <a:buNone/>
            </a:pPr>
            <a:r>
              <a:rPr lang="en-US" sz="1000">
                <a:solidFill>
                  <a:srgbClr val="7B3F1A"/>
                </a:solidFill>
                <a:latin typeface="Calibri" pitchFamily="34" charset="0"/>
              </a:rPr>
              <a:t>Cloud NAT · Cloud DNS private zones</a:t>
            </a:r>
          </a:p>
          <a:p>
            <a:pPr marL="0" indent="0">
              <a:buNone/>
            </a:pPr>
            <a:r>
              <a:rPr lang="en-US" sz="1000">
                <a:solidFill>
                  <a:srgbClr val="7B3F1A"/>
                </a:solidFill>
                <a:latin typeface="Calibri" pitchFamily="34" charset="0"/>
              </a:rPr>
              <a:t>VPC Service Controls perimeter</a:t>
            </a:r>
          </a:p>
          <a:p>
            <a:pPr marL="0" indent="0">
              <a:buNone/>
            </a:pPr>
            <a:r>
              <a:rPr lang="en-US" sz="1000">
                <a:solidFill>
                  <a:srgbClr val="7B3F1A"/>
                </a:solidFill>
                <a:latin typeface="Calibri" pitchFamily="34" charset="0"/>
              </a:rPr>
              <a:t>FI IP allowlisting (registered CIDR blocks)</a:t>
            </a:r>
          </a:p>
        </p:txBody>
      </p:sp>
      <p:sp>
        <p:nvSpPr>
          <p:cNvPr id="23" name="Advantages Bar Background"/>
          <p:cNvSpPr/>
          <p:nvPr/>
        </p:nvSpPr>
        <p:spPr>
          <a:xfrm>
            <a:off x="320040" y="4060000"/>
            <a:ext cx="11500000" cy="1200000"/>
          </a:xfrm>
          <a:prstGeom prst="rect">
            <a:avLst/>
          </a:prstGeom>
          <a:solidFill>
            <a:srgbClr val="EBF3FB"/>
          </a:solidFill>
          <a:ln w="19050">
            <a:solidFill>
              <a:srgbClr val="1F4E79"/>
            </a:solidFill>
          </a:ln>
        </p:spPr>
        <p:txBody>
          <a:bodyPr wrap="square" lIns="72000" tIns="54000" rIns="72000" rtlCol="0" anchor="t"/>
          <a:lstStyle/>
          <a:p>
            <a:pPr marL="0" indent="0">
              <a:buNone/>
            </a:pPr>
            <a:endParaRPr/>
          </a:p>
        </p:txBody>
      </p:sp>
      <p:sp>
        <p:nvSpPr>
          <p:cNvPr id="24" name="Advantages Header"/>
          <p:cNvSpPr/>
          <p:nvPr/>
        </p:nvSpPr>
        <p:spPr>
          <a:xfrm>
            <a:off x="320040" y="4060000"/>
            <a:ext cx="11500000" cy="150000"/>
          </a:xfrm>
          <a:prstGeom prst="rect">
            <a:avLst/>
          </a:prstGeom>
          <a:noFill/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1F4E79"/>
                </a:solidFill>
                <a:latin typeface="Calibri" pitchFamily="34" charset="0"/>
              </a:rPr>
              <a:t>Option B Advantages — What You Get With Dedicated Projects</a:t>
            </a:r>
          </a:p>
        </p:txBody>
      </p:sp>
      <p:sp>
        <p:nvSpPr>
          <p:cNvPr id="25" name="Advantages Left Column"/>
          <p:cNvSpPr/>
          <p:nvPr/>
        </p:nvSpPr>
        <p:spPr>
          <a:xfrm>
            <a:off x="380000" y="4240000"/>
            <a:ext cx="3600000" cy="1000000"/>
          </a:xfrm>
          <a:prstGeom prst="rect">
            <a:avLst/>
          </a:prstGeom>
          <a:noFill/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F4E79"/>
                </a:solidFill>
                <a:latin typeface="Calibri" pitchFamily="34" charset="0"/>
              </a:rPr>
              <a:t>✓ Per-JHBI-project billing — JHBI costs never mixed with JHaKnow/ARCU</a:t>
            </a:r>
          </a:p>
          <a:p>
            <a:pPr marL="0" indent="0">
              <a:buNone/>
            </a:pPr>
            <a:r>
              <a:rPr lang="en-US" sz="1000">
                <a:solidFill>
                  <a:srgbClr val="1F4E79"/>
                </a:solidFill>
                <a:latin typeface="Calibri" pitchFamily="34" charset="0"/>
              </a:rPr>
              <a:t>✓ Separate budget alerts per project (ingest vs. datalake vs. serving)</a:t>
            </a:r>
          </a:p>
          <a:p>
            <a:pPr marL="0" indent="0">
              <a:buNone/>
            </a:pPr>
            <a:r>
              <a:rPr lang="en-US" sz="1000">
                <a:solidFill>
                  <a:srgbClr val="1F4E79"/>
                </a:solidFill>
                <a:latin typeface="Calibri" pitchFamily="34" charset="0"/>
              </a:rPr>
              <a:t>✓ BQ slot reservations scoped to JHBI only</a:t>
            </a:r>
          </a:p>
        </p:txBody>
      </p:sp>
      <p:sp>
        <p:nvSpPr>
          <p:cNvPr id="26" name="Advantages Mid Column"/>
          <p:cNvSpPr/>
          <p:nvPr/>
        </p:nvSpPr>
        <p:spPr>
          <a:xfrm>
            <a:off x="4100000" y="4240000"/>
            <a:ext cx="3700000" cy="1000000"/>
          </a:xfrm>
          <a:prstGeom prst="rect">
            <a:avLst/>
          </a:prstGeom>
          <a:noFill/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F4E79"/>
                </a:solidFill>
                <a:latin typeface="Calibri" pitchFamily="34" charset="0"/>
              </a:rPr>
              <a:t>✓ SOC 2/PCI audit scope = JHBI projects only (not all of JHA)</a:t>
            </a:r>
          </a:p>
          <a:p>
            <a:pPr marL="0" indent="0">
              <a:buNone/>
            </a:pPr>
            <a:r>
              <a:rPr lang="en-US" sz="1000">
                <a:solidFill>
                  <a:srgbClr val="1F4E79"/>
                </a:solidFill>
                <a:latin typeface="Calibri" pitchFamily="34" charset="0"/>
              </a:rPr>
              <a:t>✓ FI data migration lands in dedicated project — guaranteed blast radius</a:t>
            </a:r>
          </a:p>
          <a:p>
            <a:pPr marL="0" indent="0">
              <a:buNone/>
            </a:pPr>
            <a:r>
              <a:rPr lang="en-US" sz="1000">
                <a:solidFill>
                  <a:srgbClr val="1F4E79"/>
                </a:solidFill>
                <a:latin typeface="Calibri" pitchFamily="34" charset="0"/>
              </a:rPr>
              <a:t>✓ Compliance logs per project — clean evidence for auditors</a:t>
            </a:r>
          </a:p>
        </p:txBody>
      </p:sp>
      <p:sp>
        <p:nvSpPr>
          <p:cNvPr id="27" name="Advantages Right Column"/>
          <p:cNvSpPr/>
          <p:nvPr/>
        </p:nvSpPr>
        <p:spPr>
          <a:xfrm>
            <a:off x="8000000" y="4240000"/>
            <a:ext cx="3700000" cy="1000000"/>
          </a:xfrm>
          <a:prstGeom prst="rect">
            <a:avLst/>
          </a:prstGeom>
          <a:noFill/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F4E79"/>
                </a:solidFill>
                <a:latin typeface="Calibri" pitchFamily="34" charset="0"/>
              </a:rPr>
              <a:t>✓ Terraform module provisions new FI project in minutes</a:t>
            </a:r>
          </a:p>
          <a:p>
            <a:pPr marL="0" indent="0">
              <a:buNone/>
            </a:pPr>
            <a:r>
              <a:rPr lang="en-US" sz="1000">
                <a:solidFill>
                  <a:srgbClr val="1F4E79"/>
                </a:solidFill>
                <a:latin typeface="Calibri" pitchFamily="34" charset="0"/>
              </a:rPr>
              <a:t>✓ Zero-downtime FI offboarding: terraform destroy</a:t>
            </a:r>
          </a:p>
          <a:p>
            <a:pPr marL="0" indent="0">
              <a:buNone/>
            </a:pPr>
            <a:r>
              <a:rPr lang="en-US" sz="1000">
                <a:solidFill>
                  <a:srgbClr val="1F4E79"/>
                </a:solidFill>
                <a:latin typeface="Calibri" pitchFamily="34" charset="0"/>
              </a:rPr>
              <a:t>✓ No JHaKnow/ARCU noisy-neighbor risk on any JHBI pipeline</a:t>
            </a:r>
          </a:p>
        </p:txBody>
      </p:sp>
      <p:sp>
        <p:nvSpPr>
          <p:cNvPr id="28" name="Bottom Bar Background"/>
          <p:cNvSpPr/>
          <p:nvPr/>
        </p:nvSpPr>
        <p:spPr>
          <a:xfrm>
            <a:off x="320040" y="5380000"/>
            <a:ext cx="11500000" cy="920000"/>
          </a:xfrm>
          <a:prstGeom prst="rect">
            <a:avLst/>
          </a:prstGeom>
          <a:solidFill>
            <a:srgbClr val="1F4E79"/>
          </a:solidFill>
        </p:spPr>
        <p:txBody>
          <a:bodyPr wrap="square" lIns="72000" tIns="54000" rIns="72000" rtlCol="0" anchor="t"/>
          <a:lstStyle/>
          <a:p>
            <a:pPr marL="0" indent="0">
              <a:buNone/>
            </a:pPr>
            <a:endParaRPr/>
          </a:p>
        </p:txBody>
      </p:sp>
      <p:sp>
        <p:nvSpPr>
          <p:cNvPr id="29" name="Bottom Bar Text"/>
          <p:cNvSpPr/>
          <p:nvPr/>
        </p:nvSpPr>
        <p:spPr>
          <a:xfrm>
            <a:off x="320040" y="5380000"/>
            <a:ext cx="11500000" cy="920000"/>
          </a:xfrm>
          <a:prstGeom prst="rect">
            <a:avLst/>
          </a:prstGeom>
          <a:noFill/>
        </p:spPr>
        <p:txBody>
          <a:bodyPr wrap="square" lIns="72000" tIns="54000" rIns="72000" rtlCol="0" anchor="t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Bottom Line: </a:t>
            </a:r>
            <a:r>
              <a:rPr lang="en-US" sz="1100">
                <a:solidFill>
                  <a:srgbClr val="D6E4F0"/>
                </a:solidFill>
                <a:latin typeface="Calibri" pitchFamily="34" charset="0"/>
              </a:rPr>
              <a:t>Option B is the recommended architecture. The Terraform overhead of setting up 5-6 JHBI projects (vs. reusing existing JHA projects) is a one-time 2-3 day cost. The compliance, cost visibility, and FI isolation benefits compound for the entire lifetime of the platform. This is especially critical given the JHaKnow/ARCU migration: FI customer data migrating from on-prem SQL Server must land in JHBI-controlled, isolated infrastructure — not a shared JHA project.</a:t>
            </a:r>
          </a:p>
        </p:txBody>
      </p:sp>
      <p:sp>
        <p:nvSpPr>
          <p:cNvPr id="30" name="Footer Bar"/>
          <p:cNvSpPr/>
          <p:nvPr/>
        </p:nvSpPr>
        <p:spPr>
          <a:xfrm>
            <a:off x="0" y="6566448"/>
            <a:ext cx="12192000" cy="291552"/>
          </a:xfrm>
          <a:prstGeom prst="rect">
            <a:avLst/>
          </a:prstGeom>
          <a:solidFill>
            <a:srgbClr val="1F4E79"/>
          </a:solidFill>
        </p:spPr>
        <p:txBody>
          <a:bodyPr wrap="square" lIns="72000" tIns="54000" rIns="72000" rtlCol="0" anchor="t"/>
          <a:lstStyle/>
          <a:p>
            <a:pPr marL="0" indent="0">
              <a:buNone/>
            </a:pPr>
            <a:endParaRPr/>
          </a:p>
        </p:txBody>
      </p:sp>
      <p:sp>
        <p:nvSpPr>
          <p:cNvPr id="31" name="Footer Text"/>
          <p:cNvSpPr/>
          <p:nvPr/>
        </p:nvSpPr>
        <p:spPr>
          <a:xfrm>
            <a:off x="320040" y="6590000"/>
            <a:ext cx="11430000" cy="200000"/>
          </a:xfrm>
          <a:prstGeom prst="rect">
            <a:avLst/>
          </a:prstGeom>
          <a:noFill/>
        </p:spPr>
        <p:txBody>
          <a:bodyPr wrap="square" lIns="0" tIns="0" rIns="0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8496A8"/>
                </a:solidFill>
                <a:latin typeface="Calibri" pitchFamily="34" charset="0"/>
              </a:rPr>
              <a:t>Jack Henry Business Intelligence  |  GCP Project Topology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opNavBar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E7A4A"/>
          </a:solidFill>
        </p:spPr>
        <p:txBody>
          <a:bodyPr wrap="square" rtlCol="0" anchor="t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Option B — Dedicated JHBI Projects: What It Looks Like In Practice</a:t>
            </a:r>
          </a:p>
        </p:txBody>
      </p:sp>
      <p:sp>
        <p:nvSpPr>
          <p:cNvPr id="4" name="Subtitle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0" dirty="0">
                <a:solidFill>
                  <a:srgbClr val="B2DFC6"/>
                </a:solidFill>
                <a:latin typeface="Calibri" pitchFamily="34" charset="0"/>
              </a:rPr>
              <a:t>The recommended architecture  ·  Project hierarchy  ·  FI isolation model  ·  Why it wins long-term</a:t>
            </a:r>
          </a:p>
        </p:txBody>
      </p:sp>
      <p:sp>
        <p:nvSpPr>
          <p:cNvPr id="5" name="LeftHeaderBox"/>
          <p:cNvSpPr/>
          <p:nvPr/>
        </p:nvSpPr>
        <p:spPr>
          <a:xfrm>
            <a:off x="320040" y="740000"/>
            <a:ext cx="4100000" cy="280000"/>
          </a:xfrm>
          <a:prstGeom prst="rect">
            <a:avLst/>
          </a:prstGeom>
          <a:solidFill>
            <a:srgbClr val="1E7A4A"/>
          </a:solidFill>
          <a:ln/>
        </p:spPr>
        <p:txBody>
          <a:bodyPr wrap="square" lIns="72000" rIns="720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What This Means In Practice</a:t>
            </a:r>
          </a:p>
        </p:txBody>
      </p:sp>
      <p:sp>
        <p:nvSpPr>
          <p:cNvPr id="6" name="LeftContentBox"/>
          <p:cNvSpPr/>
          <p:nvPr/>
        </p:nvSpPr>
        <p:spPr>
          <a:xfrm>
            <a:off x="320040" y="1060000"/>
            <a:ext cx="4100000" cy="4800000"/>
          </a:xfrm>
          <a:prstGeom prst="rect">
            <a:avLst/>
          </a:prstGeom>
          <a:solidFill>
            <a:srgbClr val="F0FFF4"/>
          </a:solidFill>
          <a:ln>
            <a:solidFill>
              <a:srgbClr val="1E7A4A"/>
            </a:solidFill>
          </a:ln>
        </p:spPr>
        <p:txBody>
          <a:bodyPr wrap="square" lIns="108000" tIns="108000" rIns="1080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7A4A"/>
                </a:solidFill>
                <a:latin typeface="Calibri" pitchFamily="34" charset="0"/>
              </a:rPr>
              <a:t>JHBI gets a dedicated GCP folder: jhbi-org/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33333"/>
                </a:solidFill>
                <a:latin typeface="Calibri" pitchFamily="34" charset="0"/>
              </a:rPr>
              <a:t>5 dedicated infrastructure projects: jhbi-pci-prod (tokenization), jhbi-datalake-prod (Bronze/Silver/Gold), jhbi-compute-prod (pipelines + API), jhbi-security-prod (KMS, audit), jhbi-network-prod (VPC)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E7A4A"/>
                </a:solidFill>
                <a:latin typeface="Calibri" pitchFamily="34" charset="0"/>
              </a:rPr>
              <a:t>Per-FI Platinum: jhbi-fi-{name}-prod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33333"/>
                </a:solidFill>
                <a:latin typeface="Calibri" pitchFamily="34" charset="0"/>
              </a:rPr>
              <a:t>Provisioned in ~8 min via Terraform module/jhbi-fi-tenant. Each project gets: BQ Platinum dataset, per-FI SA, VPC Service Controls, budget alert, org policy (US-only regions).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E7A4A"/>
                </a:solidFill>
                <a:latin typeface="Calibri" pitchFamily="34" charset="0"/>
              </a:rPr>
              <a:t>Gold → Platinum data flow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33333"/>
                </a:solidFill>
                <a:latin typeface="Calibri" pitchFamily="34" charset="0"/>
              </a:rPr>
              <a:t>Cross-project BigQuery views push curated Gold data to each FI’s Platinum project. FIs never touch Gold — only their own Platinum dataset.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E7A4A"/>
                </a:solidFill>
                <a:latin typeface="Calibri" pitchFamily="34" charset="0"/>
              </a:rPr>
              <a:t>FI access model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33333"/>
                </a:solidFill>
                <a:latin typeface="Calibri" pitchFamily="34" charset="0"/>
              </a:rPr>
              <a:t>Portal SSO, REST API key, or JHBI-provisioned SA key (Power BI, Tableau). FIs never log into GCP console. JHBI Platform Team owns all project lifecycle.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E7A4A"/>
                </a:solidFill>
                <a:latin typeface="Calibri" pitchFamily="34" charset="0"/>
              </a:rPr>
              <a:t>vs. Option A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33333"/>
                </a:solidFill>
                <a:latin typeface="Calibri" pitchFamily="34" charset="0"/>
              </a:rPr>
              <a:t>JHBI has a hard project boundary from JHaKnow, ARCU, and all other JHA products. No shared IAM, no shared quota, no shared audit surface.</a:t>
            </a:r>
          </a:p>
        </p:txBody>
      </p:sp>
      <p:sp>
        <p:nvSpPr>
          <p:cNvPr id="7" name="CenterHeaderBox"/>
          <p:cNvSpPr/>
          <p:nvPr/>
        </p:nvSpPr>
        <p:spPr>
          <a:xfrm>
            <a:off x="4600000" y="740000"/>
            <a:ext cx="3200000" cy="2800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2000" rIns="720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Option B Advantages</a:t>
            </a:r>
          </a:p>
        </p:txBody>
      </p:sp>
      <p:sp>
        <p:nvSpPr>
          <p:cNvPr id="8" name="BenefitBox1"/>
          <p:cNvSpPr/>
          <p:nvPr/>
        </p:nvSpPr>
        <p:spPr>
          <a:xfrm>
            <a:off x="4600000" y="1060000"/>
            <a:ext cx="3200000" cy="850000"/>
          </a:xfrm>
          <a:prstGeom prst="rect">
            <a:avLst/>
          </a:prstGeom>
          <a:solidFill>
            <a:srgbClr val="F0FFF4"/>
          </a:solidFill>
          <a:ln>
            <a:solidFill>
              <a:srgbClr val="1E7A4A"/>
            </a:solidFill>
          </a:ln>
        </p:spPr>
        <p:txBody>
          <a:bodyPr wrap="square" lIns="108000" tIns="90000" rIns="1080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7A4A"/>
                </a:solidFill>
                <a:latin typeface="Calibri" pitchFamily="34" charset="0"/>
              </a:rPr>
              <a:t>✓  Blast Radius: JHBI-Only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33333"/>
                </a:solidFill>
                <a:latin typeface="Calibri" pitchFamily="34" charset="0"/>
              </a:rPr>
              <a:t>Any IAM misconfiguration, quota issue, or incident is contained within JHBI’s project boundary. JHaKnow, ARCU, and other JHA products are completely unaffected.</a:t>
            </a:r>
          </a:p>
        </p:txBody>
      </p:sp>
      <p:sp>
        <p:nvSpPr>
          <p:cNvPr id="9" name="BenefitBox2"/>
          <p:cNvSpPr/>
          <p:nvPr/>
        </p:nvSpPr>
        <p:spPr>
          <a:xfrm>
            <a:off x="4600000" y="2036220"/>
            <a:ext cx="3200000" cy="850000"/>
          </a:xfrm>
          <a:prstGeom prst="rect">
            <a:avLst/>
          </a:prstGeom>
          <a:solidFill>
            <a:srgbClr val="EBF3FB"/>
          </a:solidFill>
          <a:ln>
            <a:solidFill>
              <a:srgbClr val="2E75B6"/>
            </a:solidFill>
          </a:ln>
        </p:spPr>
        <p:txBody>
          <a:bodyPr wrap="square" lIns="108000" tIns="90000" rIns="1080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</a:rPr>
              <a:t>✓  Compliance: Minimal Audit Scope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33333"/>
                </a:solidFill>
                <a:latin typeface="Calibri" pitchFamily="34" charset="0"/>
              </a:rPr>
              <a:t>PCI QSA, SOC 2, GLBA, and FFIEC auditors scope to JHBI projects only. No JHA cross-product spillover. Cleaner, faster, cheaper audits.</a:t>
            </a:r>
          </a:p>
        </p:txBody>
      </p:sp>
      <p:sp>
        <p:nvSpPr>
          <p:cNvPr id="10" name="BenefitBox3"/>
          <p:cNvSpPr/>
          <p:nvPr/>
        </p:nvSpPr>
        <p:spPr>
          <a:xfrm>
            <a:off x="4600000" y="3012440"/>
            <a:ext cx="3200000" cy="850000"/>
          </a:xfrm>
          <a:prstGeom prst="rect">
            <a:avLst/>
          </a:prstGeom>
          <a:solidFill>
            <a:srgbClr val="F0FFF4"/>
          </a:solidFill>
          <a:ln>
            <a:solidFill>
              <a:srgbClr val="1E7A4A"/>
            </a:solidFill>
          </a:ln>
        </p:spPr>
        <p:txBody>
          <a:bodyPr wrap="square" lIns="108000" tIns="90000" rIns="1080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7A4A"/>
                </a:solidFill>
                <a:latin typeface="Calibri" pitchFamily="34" charset="0"/>
              </a:rPr>
              <a:t>✓  FI Isolation: Contractual Guarantee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33333"/>
                </a:solidFill>
                <a:latin typeface="Calibri" pitchFamily="34" charset="0"/>
              </a:rPr>
              <a:t>Platinum project boundary is a hard GCP isolation guarantee. FI data processing agreements and data residency clauses backed by project-level controls — not just IAM policies.</a:t>
            </a:r>
          </a:p>
        </p:txBody>
      </p:sp>
      <p:sp>
        <p:nvSpPr>
          <p:cNvPr id="11" name="BenefitBox4"/>
          <p:cNvSpPr/>
          <p:nvPr/>
        </p:nvSpPr>
        <p:spPr>
          <a:xfrm>
            <a:off x="4600000" y="3988660"/>
            <a:ext cx="3200000" cy="850000"/>
          </a:xfrm>
          <a:prstGeom prst="rect">
            <a:avLst/>
          </a:prstGeom>
          <a:solidFill>
            <a:srgbClr val="EBF3FB"/>
          </a:solidFill>
          <a:ln>
            <a:solidFill>
              <a:srgbClr val="2E75B6"/>
            </a:solidFill>
          </a:ln>
        </p:spPr>
        <p:txBody>
          <a:bodyPr wrap="square" lIns="108000" tIns="90000" rIns="1080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</a:rPr>
              <a:t>✓  Cost Attribution: Native Per-Project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33333"/>
                </a:solidFill>
                <a:latin typeface="Calibri" pitchFamily="34" charset="0"/>
              </a:rPr>
              <a:t>Each JHBI project and each FI Platinum project is a natural GCP billing unit. Showback by product and by FI — no label discipline required, no spreadsheet math.</a:t>
            </a:r>
          </a:p>
        </p:txBody>
      </p:sp>
      <p:sp>
        <p:nvSpPr>
          <p:cNvPr id="12" name="BenefitBox5"/>
          <p:cNvSpPr/>
          <p:nvPr/>
        </p:nvSpPr>
        <p:spPr>
          <a:xfrm>
            <a:off x="4571962" y="4964880"/>
            <a:ext cx="3200000" cy="850000"/>
          </a:xfrm>
          <a:prstGeom prst="rect">
            <a:avLst/>
          </a:prstGeom>
          <a:solidFill>
            <a:srgbClr val="F0FFF4"/>
          </a:solidFill>
          <a:ln>
            <a:solidFill>
              <a:srgbClr val="1E7A4A"/>
            </a:solidFill>
          </a:ln>
        </p:spPr>
        <p:txBody>
          <a:bodyPr wrap="square" lIns="108000" tIns="90000" rIns="1080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7A4A"/>
                </a:solidFill>
                <a:latin typeface="Calibri" pitchFamily="34" charset="0"/>
              </a:rPr>
              <a:t>✓  SLA Independence: Full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333333"/>
                </a:solidFill>
                <a:latin typeface="Calibri" pitchFamily="34" charset="0"/>
              </a:rPr>
              <a:t>JHBI SLA is fully decoupled from JHaKnow/ARCU. Independent quota, independent incidents, independent PagerDuty routing. JHBI controls its own destiny.</a:t>
            </a:r>
          </a:p>
        </p:txBody>
      </p:sp>
      <p:sp>
        <p:nvSpPr>
          <p:cNvPr id="13" name="RightHeaderBox"/>
          <p:cNvSpPr/>
          <p:nvPr/>
        </p:nvSpPr>
        <p:spPr>
          <a:xfrm>
            <a:off x="8000000" y="740000"/>
            <a:ext cx="3900000" cy="2800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2000" rIns="720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Why Engineering Chooses Option B</a:t>
            </a:r>
          </a:p>
        </p:txBody>
      </p:sp>
      <p:sp>
        <p:nvSpPr>
          <p:cNvPr id="14" name="RightContentBox1"/>
          <p:cNvSpPr/>
          <p:nvPr/>
        </p:nvSpPr>
        <p:spPr>
          <a:xfrm>
            <a:off x="8000000" y="1060000"/>
            <a:ext cx="3900000" cy="2397828"/>
          </a:xfrm>
          <a:prstGeom prst="rect">
            <a:avLst/>
          </a:prstGeom>
          <a:solidFill>
            <a:srgbClr val="EBF3FB"/>
          </a:solidFill>
          <a:ln>
            <a:solidFill>
              <a:srgbClr val="2E75B6"/>
            </a:solidFill>
          </a:ln>
        </p:spPr>
        <p:txBody>
          <a:bodyPr wrap="square" lIns="108000" tIns="108000" rIns="1080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</a:rPr>
              <a:t>✓  Clean Terraform ownership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444444"/>
                </a:solidFill>
                <a:latin typeface="Calibri" pitchFamily="34" charset="0"/>
              </a:rPr>
              <a:t>All JHBI infra in one module tree. No shared JHA Terraform state. Full control over provisioning and lifecycle.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</a:rPr>
              <a:t>✓  No blast radius to/from JHA products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444444"/>
                </a:solidFill>
                <a:latin typeface="Calibri" pitchFamily="34" charset="0"/>
              </a:rPr>
              <a:t>Incident response is scoped to JHBI. JHaKnow/ARCU issues never appear in JHBI’s on-call queue.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</a:rPr>
              <a:t>✓  FI isolation is GCP-native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444444"/>
                </a:solidFill>
                <a:latin typeface="Calibri" pitchFamily="34" charset="0"/>
              </a:rPr>
              <a:t>Not dependent on fi_id RLS label discipline. Hard project boundary eliminates entire class of multi-tenant data leak risk.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</a:rPr>
              <a:t>✓  Independent quota, SLA, and billing</a:t>
            </a:r>
          </a:p>
          <a:p>
            <a:pPr marL="0" indent="0">
              <a:buNone/>
            </a:pPr>
            <a:r>
              <a:rPr lang="en-US" sz="950" b="0" dirty="0">
                <a:solidFill>
                  <a:srgbClr val="444444"/>
                </a:solidFill>
                <a:latin typeface="Calibri" pitchFamily="34" charset="0"/>
              </a:rPr>
              <a:t>JHBI controls its own quota limits, alert thresholds, and cost center. No negotiations with other JHA teams required.</a:t>
            </a:r>
          </a:p>
        </p:txBody>
      </p:sp>
      <p:sp>
        <p:nvSpPr>
          <p:cNvPr id="15" name="WarningHeaderBox"/>
          <p:cNvSpPr/>
          <p:nvPr/>
        </p:nvSpPr>
        <p:spPr>
          <a:xfrm>
            <a:off x="8000000" y="3500000"/>
            <a:ext cx="3900000" cy="280000"/>
          </a:xfrm>
          <a:prstGeom prst="rect">
            <a:avLst/>
          </a:prstGeom>
          <a:solidFill>
            <a:srgbClr val="1E7A4A"/>
          </a:solidFill>
          <a:ln/>
        </p:spPr>
        <p:txBody>
          <a:bodyPr wrap="square" lIns="72000" rIns="720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The One-Time Investment</a:t>
            </a:r>
          </a:p>
        </p:txBody>
      </p:sp>
      <p:sp>
        <p:nvSpPr>
          <p:cNvPr id="16" name="RightContentBox2"/>
          <p:cNvSpPr/>
          <p:nvPr/>
        </p:nvSpPr>
        <p:spPr>
          <a:xfrm>
            <a:off x="8000000" y="3820000"/>
            <a:ext cx="3900000" cy="2040000"/>
          </a:xfrm>
          <a:prstGeom prst="rect">
            <a:avLst/>
          </a:prstGeom>
          <a:solidFill>
            <a:srgbClr val="F0FFF4"/>
          </a:solidFill>
          <a:ln>
            <a:solidFill>
              <a:srgbClr val="1E7A4A"/>
            </a:solidFill>
          </a:ln>
        </p:spPr>
        <p:txBody>
          <a:bodyPr wrap="square" lIns="108000" tIns="108000" rIns="108000" rtlCol="0" anchor="t"/>
          <a:lstStyle/>
          <a:p>
            <a:pPr marL="0" indent="0">
              <a:buNone/>
            </a:pPr>
            <a:r>
              <a:rPr lang="en-US" sz="950" b="0" dirty="0">
                <a:solidFill>
                  <a:srgbClr val="333333"/>
                </a:solidFill>
                <a:latin typeface="Calibri" pitchFamily="34" charset="0"/>
              </a:rPr>
              <a:t>Setting up 5-6 dedicated JHBI projects: ~2-3 day Terraform effort. One-time cost, permanent benefit.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0" dirty="0">
                <a:solidFill>
                  <a:srgbClr val="333333"/>
                </a:solidFill>
                <a:latin typeface="Calibri" pitchFamily="34" charset="0"/>
              </a:rPr>
              <a:t>Per-FI Platinum projects are fully automated: terraform apply -var fi_id=acme_bank provisions a new isolated project in ~8 minutes.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b="0" dirty="0">
                <a:solidFill>
                  <a:srgbClr val="333333"/>
                </a:solidFill>
                <a:latin typeface="Calibri" pitchFamily="34" charset="0"/>
              </a:rPr>
              <a:t>JHaKnow/ARCU FIs today have dedicated on-prem instances. Platinum is the cloud equivalent of that guarantee — without any per-FI operational overhead for JHBI.</a:t>
            </a:r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BottomBar"/>
          <p:cNvSpPr/>
          <p:nvPr/>
        </p:nvSpPr>
        <p:spPr>
          <a:xfrm>
            <a:off x="320040" y="5960000"/>
            <a:ext cx="11500000" cy="380000"/>
          </a:xfrm>
          <a:prstGeom prst="rect">
            <a:avLst/>
          </a:prstGeom>
          <a:solidFill>
            <a:srgbClr val="1E7A4A"/>
          </a:solidFill>
          <a:ln/>
        </p:spPr>
        <p:txBody>
          <a:bodyPr wrap="square" lIns="108000" rIns="1080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Option B is the right foundation for 700+ FI migrations, long-term regulatory compliance, and JHBI’s independence as a platform.</a:t>
            </a:r>
          </a:p>
        </p:txBody>
      </p:sp>
      <p:sp>
        <p:nvSpPr>
          <p:cNvPr id="18" name="FooterBar"/>
          <p:cNvSpPr/>
          <p:nvPr/>
        </p:nvSpPr>
        <p:spPr>
          <a:xfrm>
            <a:off x="0" y="6566448"/>
            <a:ext cx="12192000" cy="2915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FooterText"/>
          <p:cNvSpPr/>
          <p:nvPr/>
        </p:nvSpPr>
        <p:spPr>
          <a:xfrm>
            <a:off x="320040" y="6590000"/>
            <a:ext cx="1143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0" dirty="0">
                <a:solidFill>
                  <a:srgbClr val="9DC3E6"/>
                </a:solidFill>
                <a:latin typeface="Calibri" pitchFamily="34" charset="0"/>
              </a:rPr>
              <a:t>Jack Henry Business Intelligence  |  GCP Project Topology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Bar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GCP Project Isolation — Decision Matrix</a:t>
            </a:r>
          </a:p>
        </p:txBody>
      </p:sp>
      <p:sp>
        <p:nvSpPr>
          <p:cNvPr id="4" name="Subtitle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0" dirty="0">
                <a:solidFill>
                  <a:srgbClr val="9DC3E6"/>
                </a:solidFill>
                <a:latin typeface="Calibri" pitchFamily="34" charset="0"/>
              </a:rPr>
              <a:t>Option A: DataHub (Shared JHA Project) vs. Option B: Dedicated JHBI Projects  ·  Engineering &amp; Architecture Review</a:t>
            </a:r>
          </a:p>
        </p:txBody>
      </p:sp>
      <p:sp>
        <p:nvSpPr>
          <p:cNvPr id="5" name="HdrCriteria"/>
          <p:cNvSpPr/>
          <p:nvPr/>
        </p:nvSpPr>
        <p:spPr>
          <a:xfrm>
            <a:off x="320040" y="1198160"/>
            <a:ext cx="2700000" cy="2800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Criteria</a:t>
            </a:r>
          </a:p>
        </p:txBody>
      </p:sp>
      <p:sp>
        <p:nvSpPr>
          <p:cNvPr id="6" name="HdrOptA"/>
          <p:cNvSpPr/>
          <p:nvPr/>
        </p:nvSpPr>
        <p:spPr>
          <a:xfrm>
            <a:off x="3100000" y="1198160"/>
            <a:ext cx="4250000" cy="280000"/>
          </a:xfrm>
          <a:prstGeom prst="rect">
            <a:avLst/>
          </a:prstGeom>
          <a:solidFill>
            <a:srgbClr val="C55A11"/>
          </a:solidFill>
          <a:ln/>
        </p:spPr>
        <p:txBody>
          <a:bodyPr wrap="square" lIns="54000" tIns="36576" rIns="540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Option A: DataHub (Shared JHA Project)</a:t>
            </a:r>
          </a:p>
        </p:txBody>
      </p:sp>
      <p:sp>
        <p:nvSpPr>
          <p:cNvPr id="7" name="HdrOptB"/>
          <p:cNvSpPr/>
          <p:nvPr/>
        </p:nvSpPr>
        <p:spPr>
          <a:xfrm>
            <a:off x="7450000" y="1198160"/>
            <a:ext cx="4400000" cy="280000"/>
          </a:xfrm>
          <a:prstGeom prst="rect">
            <a:avLst/>
          </a:prstGeom>
          <a:solidFill>
            <a:srgbClr val="1E7A4A"/>
          </a:solidFill>
          <a:ln/>
        </p:spPr>
        <p:txBody>
          <a:bodyPr wrap="square" lIns="54000" tIns="36576" rIns="540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Option B: Dedicated JHBI Projects ✓</a:t>
            </a:r>
          </a:p>
        </p:txBody>
      </p:sp>
      <p:sp>
        <p:nvSpPr>
          <p:cNvPr id="8" name="Row0C0"/>
          <p:cNvSpPr/>
          <p:nvPr/>
        </p:nvSpPr>
        <p:spPr>
          <a:xfrm>
            <a:off x="320040" y="1478160"/>
            <a:ext cx="2700000" cy="460000"/>
          </a:xfrm>
          <a:prstGeom prst="rect">
            <a:avLst/>
          </a:prstGeom>
          <a:solidFill>
            <a:srgbClr val="EBF3FB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</a:rPr>
              <a:t>Cross-JHA Blast Radius</a:t>
            </a:r>
          </a:p>
        </p:txBody>
      </p:sp>
      <p:sp>
        <p:nvSpPr>
          <p:cNvPr id="9" name="Row0C1"/>
          <p:cNvSpPr/>
          <p:nvPr/>
        </p:nvSpPr>
        <p:spPr>
          <a:xfrm>
            <a:off x="3100000" y="1478160"/>
            <a:ext cx="4250000" cy="46000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BF4000"/>
                </a:solidFill>
                <a:latin typeface="Calibri" pitchFamily="34" charset="0"/>
              </a:rPr>
              <a:t>High — all JHA products share one DataHub project. A misconfigured SA, rogue Dataflow job, or quota exhaustion in any JHA product line affects JHBI directly.</a:t>
            </a:r>
          </a:p>
        </p:txBody>
      </p:sp>
      <p:sp>
        <p:nvSpPr>
          <p:cNvPr id="10" name="Row0C2"/>
          <p:cNvSpPr/>
          <p:nvPr/>
        </p:nvSpPr>
        <p:spPr>
          <a:xfrm>
            <a:off x="7450000" y="1478160"/>
            <a:ext cx="4400000" cy="460000"/>
          </a:xfrm>
          <a:prstGeom prst="rect">
            <a:avLst/>
          </a:prstGeom>
          <a:solidFill>
            <a:srgbClr val="F0FFF4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1E7A4A"/>
                </a:solidFill>
                <a:latin typeface="Calibri" pitchFamily="34" charset="0"/>
              </a:rPr>
              <a:t>None — JHBI org boundary isolates it from all other JHA products. JHaKnow/ARCU incidents do not reach JHBI.</a:t>
            </a:r>
          </a:p>
        </p:txBody>
      </p:sp>
      <p:sp>
        <p:nvSpPr>
          <p:cNvPr id="11" name="Row1C0"/>
          <p:cNvSpPr/>
          <p:nvPr/>
        </p:nvSpPr>
        <p:spPr>
          <a:xfrm>
            <a:off x="320040" y="1938160"/>
            <a:ext cx="270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</a:rPr>
              <a:t>Compliance Audit Scope</a:t>
            </a:r>
          </a:p>
        </p:txBody>
      </p:sp>
      <p:sp>
        <p:nvSpPr>
          <p:cNvPr id="12" name="Row1C1"/>
          <p:cNvSpPr/>
          <p:nvPr/>
        </p:nvSpPr>
        <p:spPr>
          <a:xfrm>
            <a:off x="3100000" y="1938160"/>
            <a:ext cx="4250000" cy="46000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BF4000"/>
                </a:solidFill>
                <a:latin typeface="Calibri" pitchFamily="34" charset="0"/>
              </a:rPr>
              <a:t>Broad — PCI/GLBA auditors must review shared JHA infra. Scope creep increases audit cost and risk.</a:t>
            </a:r>
          </a:p>
        </p:txBody>
      </p:sp>
      <p:sp>
        <p:nvSpPr>
          <p:cNvPr id="13" name="Row1C2"/>
          <p:cNvSpPr/>
          <p:nvPr/>
        </p:nvSpPr>
        <p:spPr>
          <a:xfrm>
            <a:off x="7450000" y="1938160"/>
            <a:ext cx="4400000" cy="460000"/>
          </a:xfrm>
          <a:prstGeom prst="rect">
            <a:avLst/>
          </a:prstGeom>
          <a:solidFill>
            <a:srgbClr val="F0FFF4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1E7A4A"/>
                </a:solidFill>
                <a:latin typeface="Calibri" pitchFamily="34" charset="0"/>
              </a:rPr>
              <a:t>Narrow — JHBI-only scope. PCI project boundary is clean. Cleaner SOC 2, GLBA, and FFIEC attestation.</a:t>
            </a:r>
          </a:p>
        </p:txBody>
      </p:sp>
      <p:sp>
        <p:nvSpPr>
          <p:cNvPr id="14" name="Row2C0"/>
          <p:cNvSpPr/>
          <p:nvPr/>
        </p:nvSpPr>
        <p:spPr>
          <a:xfrm>
            <a:off x="320040" y="2398160"/>
            <a:ext cx="2700000" cy="460000"/>
          </a:xfrm>
          <a:prstGeom prst="rect">
            <a:avLst/>
          </a:prstGeom>
          <a:solidFill>
            <a:srgbClr val="EBF3FB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</a:rPr>
              <a:t>FI Data Isolation</a:t>
            </a:r>
          </a:p>
        </p:txBody>
      </p:sp>
      <p:sp>
        <p:nvSpPr>
          <p:cNvPr id="15" name="Row2C1"/>
          <p:cNvSpPr/>
          <p:nvPr/>
        </p:nvSpPr>
        <p:spPr>
          <a:xfrm>
            <a:off x="3100000" y="2398160"/>
            <a:ext cx="4250000" cy="46000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BF4000"/>
                </a:solidFill>
                <a:latin typeface="Calibri" pitchFamily="34" charset="0"/>
              </a:rPr>
              <a:t>None enforced at project level — DataHub uses naming conventions only (jhbi_*, jhaknow_*). RLS applied within datasets but no GCP project boundary. FI data co-mingled with all other JHA product data.</a:t>
            </a:r>
          </a:p>
        </p:txBody>
      </p:sp>
      <p:sp>
        <p:nvSpPr>
          <p:cNvPr id="16" name="Row2C2"/>
          <p:cNvSpPr/>
          <p:nvPr/>
        </p:nvSpPr>
        <p:spPr>
          <a:xfrm>
            <a:off x="7450000" y="2398160"/>
            <a:ext cx="4400000" cy="460000"/>
          </a:xfrm>
          <a:prstGeom prst="rect">
            <a:avLst/>
          </a:prstGeom>
          <a:solidFill>
            <a:srgbClr val="F0FFF4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1E7A4A"/>
                </a:solidFill>
                <a:latin typeface="Calibri" pitchFamily="34" charset="0"/>
              </a:rPr>
              <a:t>Defense-in-depth — VPC Service Controls + Platinum per-FI project + RLS. Contractually provable isolation.</a:t>
            </a:r>
          </a:p>
        </p:txBody>
      </p:sp>
      <p:sp>
        <p:nvSpPr>
          <p:cNvPr id="17" name="Row3C0"/>
          <p:cNvSpPr/>
          <p:nvPr/>
        </p:nvSpPr>
        <p:spPr>
          <a:xfrm>
            <a:off x="320040" y="2858160"/>
            <a:ext cx="270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</a:rPr>
              <a:t>Cost Attribution</a:t>
            </a:r>
          </a:p>
        </p:txBody>
      </p:sp>
      <p:sp>
        <p:nvSpPr>
          <p:cNvPr id="18" name="Row3C1"/>
          <p:cNvSpPr/>
          <p:nvPr/>
        </p:nvSpPr>
        <p:spPr>
          <a:xfrm>
            <a:off x="3100000" y="2858160"/>
            <a:ext cx="4250000" cy="46000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BF4000"/>
                </a:solidFill>
                <a:latin typeface="Calibri" pitchFamily="34" charset="0"/>
              </a:rPr>
              <a:t>None — single DataHub billing line for all JHA products. JHBI costs require 100% job-label compliance across teams JHBI does not control. Any team that skips a label silently breaks attribution.</a:t>
            </a:r>
          </a:p>
        </p:txBody>
      </p:sp>
      <p:sp>
        <p:nvSpPr>
          <p:cNvPr id="19" name="Row3C2"/>
          <p:cNvSpPr/>
          <p:nvPr/>
        </p:nvSpPr>
        <p:spPr>
          <a:xfrm>
            <a:off x="7450000" y="2858160"/>
            <a:ext cx="4400000" cy="460000"/>
          </a:xfrm>
          <a:prstGeom prst="rect">
            <a:avLst/>
          </a:prstGeom>
          <a:solidFill>
            <a:srgbClr val="F0FFF4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1E7A4A"/>
                </a:solidFill>
                <a:latin typeface="Calibri" pitchFamily="34" charset="0"/>
              </a:rPr>
              <a:t>Clean — per-project billing gives JHBI a dedicated cost center. Easy showback/chargeback by layer.</a:t>
            </a:r>
          </a:p>
        </p:txBody>
      </p:sp>
      <p:sp>
        <p:nvSpPr>
          <p:cNvPr id="20" name="Row4C0"/>
          <p:cNvSpPr/>
          <p:nvPr/>
        </p:nvSpPr>
        <p:spPr>
          <a:xfrm>
            <a:off x="320040" y="3318160"/>
            <a:ext cx="2700000" cy="460000"/>
          </a:xfrm>
          <a:prstGeom prst="rect">
            <a:avLst/>
          </a:prstGeom>
          <a:solidFill>
            <a:srgbClr val="EBF3FB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</a:rPr>
              <a:t>BQ Slot Contention</a:t>
            </a:r>
          </a:p>
        </p:txBody>
      </p:sp>
      <p:sp>
        <p:nvSpPr>
          <p:cNvPr id="21" name="Row4C1"/>
          <p:cNvSpPr/>
          <p:nvPr/>
        </p:nvSpPr>
        <p:spPr>
          <a:xfrm>
            <a:off x="3100000" y="3318160"/>
            <a:ext cx="4250000" cy="46000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BF4000"/>
                </a:solidFill>
                <a:latin typeface="Calibri" pitchFamily="34" charset="0"/>
              </a:rPr>
              <a:t>Risk — JHaKnow batch jobs and ARCU reports consume shared BQ slots, degrading JHBI query SLA.</a:t>
            </a:r>
          </a:p>
        </p:txBody>
      </p:sp>
      <p:sp>
        <p:nvSpPr>
          <p:cNvPr id="22" name="Row4C2"/>
          <p:cNvSpPr/>
          <p:nvPr/>
        </p:nvSpPr>
        <p:spPr>
          <a:xfrm>
            <a:off x="7450000" y="3318160"/>
            <a:ext cx="4400000" cy="460000"/>
          </a:xfrm>
          <a:prstGeom prst="rect">
            <a:avLst/>
          </a:prstGeom>
          <a:solidFill>
            <a:srgbClr val="F0FFF4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1E7A4A"/>
                </a:solidFill>
                <a:latin typeface="Calibri" pitchFamily="34" charset="0"/>
              </a:rPr>
              <a:t>None — JHBI-reserved BQ slots are not shared. Guaranteed query performance for all FI analytics.</a:t>
            </a:r>
          </a:p>
        </p:txBody>
      </p:sp>
      <p:sp>
        <p:nvSpPr>
          <p:cNvPr id="23" name="Row5C0"/>
          <p:cNvSpPr/>
          <p:nvPr/>
        </p:nvSpPr>
        <p:spPr>
          <a:xfrm>
            <a:off x="320040" y="3778160"/>
            <a:ext cx="270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</a:rPr>
              <a:t>JHaKnow/ARCU Migration Safety</a:t>
            </a:r>
          </a:p>
        </p:txBody>
      </p:sp>
      <p:sp>
        <p:nvSpPr>
          <p:cNvPr id="24" name="Row5C1"/>
          <p:cNvSpPr/>
          <p:nvPr/>
        </p:nvSpPr>
        <p:spPr>
          <a:xfrm>
            <a:off x="3100000" y="3778160"/>
            <a:ext cx="4250000" cy="46000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BF4000"/>
                </a:solidFill>
                <a:latin typeface="Calibri" pitchFamily="34" charset="0"/>
              </a:rPr>
              <a:t>Blocker — EC2030 migrates ~700 JHaKnow/ARCU FIs to cloud. DataHub has no per-FI landing zone. Migrated FI data shares the project with all JHA products — a security regression from the on-prem dedicated SQL Server model.</a:t>
            </a:r>
          </a:p>
        </p:txBody>
      </p:sp>
      <p:sp>
        <p:nvSpPr>
          <p:cNvPr id="25" name="Row5C2"/>
          <p:cNvSpPr/>
          <p:nvPr/>
        </p:nvSpPr>
        <p:spPr>
          <a:xfrm>
            <a:off x="7450000" y="3778160"/>
            <a:ext cx="4400000" cy="460000"/>
          </a:xfrm>
          <a:prstGeom prst="rect">
            <a:avLst/>
          </a:prstGeom>
          <a:solidFill>
            <a:srgbClr val="F0FFF4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1E7A4A"/>
                </a:solidFill>
                <a:latin typeface="Calibri" pitchFamily="34" charset="0"/>
              </a:rPr>
              <a:t>High — project boundary contains migration risk. Staged cutover per cohort with no JHBI production exposure.</a:t>
            </a:r>
          </a:p>
        </p:txBody>
      </p:sp>
      <p:sp>
        <p:nvSpPr>
          <p:cNvPr id="26" name="Row6C0"/>
          <p:cNvSpPr/>
          <p:nvPr/>
        </p:nvSpPr>
        <p:spPr>
          <a:xfrm>
            <a:off x="320040" y="4238160"/>
            <a:ext cx="2700000" cy="460000"/>
          </a:xfrm>
          <a:prstGeom prst="rect">
            <a:avLst/>
          </a:prstGeom>
          <a:solidFill>
            <a:srgbClr val="EBF3FB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</a:rPr>
              <a:t>SLA Independence</a:t>
            </a:r>
          </a:p>
        </p:txBody>
      </p:sp>
      <p:sp>
        <p:nvSpPr>
          <p:cNvPr id="27" name="Row6C1"/>
          <p:cNvSpPr/>
          <p:nvPr/>
        </p:nvSpPr>
        <p:spPr>
          <a:xfrm>
            <a:off x="3100000" y="4238160"/>
            <a:ext cx="4250000" cy="46000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BF4000"/>
                </a:solidFill>
                <a:latin typeface="Calibri" pitchFamily="34" charset="0"/>
              </a:rPr>
              <a:t>Coupled — other JHA group outages, quota exhaustion, or quota requests affect JHBI availability.</a:t>
            </a:r>
          </a:p>
        </p:txBody>
      </p:sp>
      <p:sp>
        <p:nvSpPr>
          <p:cNvPr id="28" name="Row6C2"/>
          <p:cNvSpPr/>
          <p:nvPr/>
        </p:nvSpPr>
        <p:spPr>
          <a:xfrm>
            <a:off x="7450000" y="4238160"/>
            <a:ext cx="4400000" cy="460000"/>
          </a:xfrm>
          <a:prstGeom prst="rect">
            <a:avLst/>
          </a:prstGeom>
          <a:solidFill>
            <a:srgbClr val="F0FFF4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1E7A4A"/>
                </a:solidFill>
                <a:latin typeface="Calibri" pitchFamily="34" charset="0"/>
              </a:rPr>
              <a:t>Independent — JHBI SLA is not impacted by JHaKnow/ARCU workloads. Own quota, own incidents.</a:t>
            </a:r>
          </a:p>
        </p:txBody>
      </p:sp>
      <p:sp>
        <p:nvSpPr>
          <p:cNvPr id="29" name="Row7C0"/>
          <p:cNvSpPr/>
          <p:nvPr/>
        </p:nvSpPr>
        <p:spPr>
          <a:xfrm>
            <a:off x="320040" y="4698160"/>
            <a:ext cx="270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</a:rPr>
              <a:t>New FI Onboarding</a:t>
            </a:r>
          </a:p>
        </p:txBody>
      </p:sp>
      <p:sp>
        <p:nvSpPr>
          <p:cNvPr id="30" name="Row7C1"/>
          <p:cNvSpPr/>
          <p:nvPr/>
        </p:nvSpPr>
        <p:spPr>
          <a:xfrm>
            <a:off x="3100000" y="4698160"/>
            <a:ext cx="4250000" cy="460000"/>
          </a:xfrm>
          <a:prstGeom prst="rect">
            <a:avLst/>
          </a:prstGeom>
          <a:solidFill>
            <a:srgbClr val="FFF3E0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BF4000"/>
                </a:solidFill>
                <a:latin typeface="Calibri" pitchFamily="34" charset="0"/>
              </a:rPr>
              <a:t>Scaling risk — single project grows without bound. IAM policies and BQ datasets become unmanageable.</a:t>
            </a:r>
          </a:p>
        </p:txBody>
      </p:sp>
      <p:sp>
        <p:nvSpPr>
          <p:cNvPr id="31" name="Row7C2"/>
          <p:cNvSpPr/>
          <p:nvPr/>
        </p:nvSpPr>
        <p:spPr>
          <a:xfrm>
            <a:off x="7450000" y="4698160"/>
            <a:ext cx="4400000" cy="460000"/>
          </a:xfrm>
          <a:prstGeom prst="rect">
            <a:avLst/>
          </a:prstGeom>
          <a:solidFill>
            <a:srgbClr val="F0FFF4"/>
          </a:solidFill>
          <a:ln>
            <a:solidFill>
              <a:srgbClr val="CCCCCC"/>
            </a:solidFill>
          </a:ln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950" b="0" dirty="0">
                <a:solidFill>
                  <a:srgbClr val="1E7A4A"/>
                </a:solidFill>
                <a:latin typeface="Calibri" pitchFamily="34" charset="0"/>
              </a:rPr>
              <a:t>Scales cleanly — Terraform module/jhbi-fi-tenant provisions a new isolated Platinum project per FI in minutes. EC2030 FIs land in dedicated projects from day one of migration.n minutes.</a:t>
            </a:r>
          </a:p>
        </p:txBody>
      </p:sp>
      <p:sp>
        <p:nvSpPr>
          <p:cNvPr id="32" name="Row8C0"/>
          <p:cNvSpPr/>
          <p:nvPr/>
        </p:nvSpPr>
        <p:spPr>
          <a:xfrm>
            <a:off x="320040" y="5158160"/>
            <a:ext cx="2700000" cy="4600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54000" tIns="36576" rIns="54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Recommended For</a:t>
            </a:r>
          </a:p>
        </p:txBody>
      </p:sp>
      <p:sp>
        <p:nvSpPr>
          <p:cNvPr id="33" name="Row8C1"/>
          <p:cNvSpPr/>
          <p:nvPr/>
        </p:nvSpPr>
        <p:spPr>
          <a:xfrm>
            <a:off x="3100000" y="5158160"/>
            <a:ext cx="4250000" cy="460000"/>
          </a:xfrm>
          <a:prstGeom prst="rect">
            <a:avLst/>
          </a:prstGeom>
          <a:solidFill>
            <a:srgbClr val="C55A11"/>
          </a:solidFill>
          <a:ln/>
        </p:spPr>
        <p:txBody>
          <a:bodyPr wrap="square" lIns="54000" tIns="36576" rIns="540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Short-term PoC only. Not for production.</a:t>
            </a:r>
          </a:p>
        </p:txBody>
      </p:sp>
      <p:sp>
        <p:nvSpPr>
          <p:cNvPr id="34" name="Row8C2"/>
          <p:cNvSpPr/>
          <p:nvPr/>
        </p:nvSpPr>
        <p:spPr>
          <a:xfrm>
            <a:off x="7450000" y="5158160"/>
            <a:ext cx="4400000" cy="460000"/>
          </a:xfrm>
          <a:prstGeom prst="rect">
            <a:avLst/>
          </a:prstGeom>
          <a:solidFill>
            <a:srgbClr val="1E7A4A"/>
          </a:solidFill>
          <a:ln/>
        </p:spPr>
        <p:txBody>
          <a:bodyPr wrap="square" lIns="54000" tIns="36576" rIns="540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Production. Enterprise. Regulatory-grade. 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Ask — 6 Dedicated JHBI Projects + the per-fi - Platinum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Prrojects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already has 6 dedicated GCP projects — this is the Option B foundation.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56248"/>
            <a:ext cx="12188952" cy="201168"/>
          </a:xfrm>
          <a:prstGeom prst="rect">
            <a:avLst/>
          </a:prstGeom>
          <a:solidFill>
            <a:srgbClr val="E9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Tenancy &amp; Cost Attribution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2578608" cy="1664208"/>
          </a:xfrm>
          <a:prstGeom prst="rect">
            <a:avLst/>
          </a:prstGeom>
          <a:solidFill>
            <a:srgbClr val="F8F9FA"/>
          </a:solidFill>
          <a:ln w="10160">
            <a:solidFill>
              <a:srgbClr val="8B1A1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2578608" cy="310896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" y="81381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jhbi-pci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161288"/>
            <a:ext cx="243230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DLP/KMS tokenization · Format-preserving encryption · PAN / routing number masking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71800" y="777240"/>
            <a:ext cx="2578608" cy="1664208"/>
          </a:xfrm>
          <a:prstGeom prst="rect">
            <a:avLst/>
          </a:prstGeom>
          <a:solidFill>
            <a:srgbClr val="F8F9FA"/>
          </a:solidFill>
          <a:ln w="10160">
            <a:solidFill>
              <a:srgbClr val="C55A1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71800" y="777240"/>
            <a:ext cx="2578608" cy="310896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44952" y="81381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jhbi-bronze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63240" y="1161288"/>
            <a:ext cx="243230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CDC · Pub/Sub · Dataflow · Raw BQ datasets per source system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587752"/>
            <a:ext cx="2578608" cy="1664208"/>
          </a:xfrm>
          <a:prstGeom prst="rect">
            <a:avLst/>
          </a:prstGeom>
          <a:solidFill>
            <a:srgbClr val="F8F9FA"/>
          </a:solidFill>
          <a:ln w="10160">
            <a:solidFill>
              <a:srgbClr val="59595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2587752"/>
            <a:ext cx="2578608" cy="310896"/>
          </a:xfrm>
          <a:prstGeom prst="rect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1752" y="26243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jhbi-silver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" y="2971800"/>
            <a:ext cx="243230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payments schema · Identity/Entity Resolution · Dataform Bronze→Silver transforms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71800" y="2587752"/>
            <a:ext cx="2578608" cy="1664208"/>
          </a:xfrm>
          <a:prstGeom prst="rect">
            <a:avLst/>
          </a:prstGeom>
          <a:solidFill>
            <a:srgbClr val="F8F9FA"/>
          </a:solidFill>
          <a:ln w="10160">
            <a:solidFill>
              <a:srgbClr val="5B4A8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71800" y="2587752"/>
            <a:ext cx="2578608" cy="310896"/>
          </a:xfrm>
          <a:prstGeom prst="rect">
            <a:avLst/>
          </a:prstGeom>
          <a:solidFill>
            <a:srgbClr val="5B4A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44952" y="26243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jhbi-compute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63240" y="2971800"/>
            <a:ext cx="243230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Composer (Airflow) · Dataform orchestration · Cloud Run API + Portal backend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4398264"/>
            <a:ext cx="2578608" cy="1664208"/>
          </a:xfrm>
          <a:prstGeom prst="rect">
            <a:avLst/>
          </a:prstGeom>
          <a:solidFill>
            <a:srgbClr val="F8F9FA"/>
          </a:solidFill>
          <a:ln w="10160">
            <a:solidFill>
              <a:srgbClr val="2E75B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" y="4398264"/>
            <a:ext cx="2578608" cy="310896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01752" y="44348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jhbi-data-science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" y="4782312"/>
            <a:ext cx="243230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Workbench · Looker · Model training · JH internal analytics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71800" y="4398264"/>
            <a:ext cx="2578608" cy="1664208"/>
          </a:xfrm>
          <a:prstGeom prst="rect">
            <a:avLst/>
          </a:prstGeom>
          <a:solidFill>
            <a:srgbClr val="FDECEA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C0392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971800" y="4398264"/>
            <a:ext cx="2578608" cy="3108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044952" y="44348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jhbi-gold ⚠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063240" y="4782312"/>
            <a:ext cx="243230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JH internal cross-FI analytics only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52160" y="777240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Project Isolation Matters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52160" y="1188720"/>
            <a:ext cx="6126480" cy="1389888"/>
          </a:xfrm>
          <a:prstGeom prst="rect">
            <a:avLst/>
          </a:prstGeom>
          <a:solidFill>
            <a:srgbClr val="FFFFFF"/>
          </a:solidFill>
          <a:ln w="1016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92240" y="1298448"/>
            <a:ext cx="5340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92240" y="1609344"/>
            <a:ext cx="534009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queries run inside the gold project. All BigQuery compute — JH analyst queries AND every FI customer's portal/API/direct-BQ query — land in one billing line. No native way to see which FI is driving cost.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52160" y="2962656"/>
            <a:ext cx="6126480" cy="1389888"/>
          </a:xfrm>
          <a:prstGeom prst="rect">
            <a:avLst/>
          </a:prstGeom>
          <a:solidFill>
            <a:srgbClr val="FFFFFF"/>
          </a:solidFill>
          <a:ln w="1016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92240" y="3072384"/>
            <a:ext cx="5340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 risk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92240" y="3383280"/>
            <a:ext cx="534009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holds JH-internal analytics only — correct. But EC2030 migrates ~700 JHaKnow/ARCU FIs to cloud. There is no dedicated per-FI project to land their data. Without Platinum, FI-specific data and FI-specific data, there is no isolated project to land it in. Without a Platinum layer, FI-specific data would be forced into the same project as shared JH analytics — a contractual and security gap.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52160" y="4736592"/>
            <a:ext cx="6126480" cy="1389888"/>
          </a:xfrm>
          <a:prstGeom prst="rect">
            <a:avLst/>
          </a:prstGeom>
          <a:solidFill>
            <a:srgbClr val="FFFFFF"/>
          </a:solidFill>
          <a:ln w="10160">
            <a:solidFill>
              <a:srgbClr val="C55A1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07024" y="1188720"/>
            <a:ext cx="475488" cy="1399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07024" y="1747053"/>
            <a:ext cx="475488" cy="383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907024" y="2962656"/>
            <a:ext cx="475488" cy="1399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07024" y="3439501"/>
            <a:ext cx="475488" cy="383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5907024" y="4736592"/>
            <a:ext cx="475488" cy="1389888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907024" y="5131949"/>
            <a:ext cx="475488" cy="383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492240" y="4846320"/>
            <a:ext cx="5340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access model unclear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92240" y="5157216"/>
            <a:ext cx="534009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need both portal/API access AND direct BigQuery SA connections (Power BI, Tableau). There is no safe way to serve FI customers directly from Gold — it contains cross-FI data. A dedicated Platinum project per FI is required to give them isolated access without touching Gold.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28600" y="6236208"/>
            <a:ext cx="11731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adds Platinum to what already exists — one dedicated GCP project per FI, Terraform-provisioned, JHBI-managed. The 6 existing projects become the infrastructure layer. Gold stays JH-internal. Platinum gives EC2030-migrating FIs their own isolated project.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Bar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Data Architecture — 5 Layers(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</a:rPr>
              <a:t>pci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/compute/bronze/silver/gold), Two Purposes</a:t>
            </a:r>
          </a:p>
        </p:txBody>
      </p:sp>
      <p:sp>
        <p:nvSpPr>
          <p:cNvPr id="4" name="Subtitle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0" dirty="0">
                <a:solidFill>
                  <a:srgbClr val="9DC3E6"/>
                </a:solidFill>
                <a:latin typeface="Calibri" pitchFamily="34" charset="0"/>
              </a:rPr>
              <a:t>Bronze / Silver / Gold = JH-internal analytics (multi-tenant, cross-FI)  ·  Platinum = per-FI isolated project (separate, new layer)</a:t>
            </a:r>
          </a:p>
        </p:txBody>
      </p:sp>
      <p:sp>
        <p:nvSpPr>
          <p:cNvPr id="5" name="PurposeLeft"/>
          <p:cNvSpPr/>
          <p:nvPr/>
        </p:nvSpPr>
        <p:spPr>
          <a:xfrm>
            <a:off x="320040" y="720000"/>
            <a:ext cx="6700000" cy="2300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54000" rIns="54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INTERNAL JHA ANALYTICS LAYER — Multi-tenant · All FI data · JHA eyes only</a:t>
            </a:r>
          </a:p>
        </p:txBody>
      </p:sp>
      <p:sp>
        <p:nvSpPr>
          <p:cNvPr id="6" name="PurposeRight"/>
          <p:cNvSpPr/>
          <p:nvPr/>
        </p:nvSpPr>
        <p:spPr>
          <a:xfrm>
            <a:off x="7140000" y="720000"/>
            <a:ext cx="4720000" cy="230000"/>
          </a:xfrm>
          <a:prstGeom prst="rect">
            <a:avLst/>
          </a:prstGeom>
          <a:solidFill>
            <a:srgbClr val="1E7A4A"/>
          </a:solidFill>
          <a:ln/>
        </p:spPr>
        <p:txBody>
          <a:bodyPr wrap="square" lIns="54000" rIns="54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FI-SPECIFIC ISOLATION LAYER — One project per FI · Terraform-provisioned</a:t>
            </a:r>
          </a:p>
        </p:txBody>
      </p:sp>
      <p:sp>
        <p:nvSpPr>
          <p:cNvPr id="7" name="Divider"/>
          <p:cNvSpPr/>
          <p:nvPr/>
        </p:nvSpPr>
        <p:spPr>
          <a:xfrm>
            <a:off x="6959960" y="969264"/>
            <a:ext cx="80000" cy="4800000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BronzeHdr"/>
          <p:cNvSpPr/>
          <p:nvPr/>
        </p:nvSpPr>
        <p:spPr>
          <a:xfrm>
            <a:off x="320040" y="950000"/>
            <a:ext cx="1100000" cy="1600000"/>
          </a:xfrm>
          <a:prstGeom prst="rect">
            <a:avLst/>
          </a:prstGeom>
          <a:solidFill>
            <a:srgbClr val="C55A11"/>
          </a:solidFill>
          <a:ln/>
        </p:spPr>
        <p:txBody>
          <a:bodyPr wrap="square" lIns="36000" rIns="360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BRONZE</a:t>
            </a:r>
            <a:br>
              <a:rPr lang="en-US" sz="900" dirty="0">
                <a:solidFill>
                  <a:srgbClr val="FFD7B5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FFD7B5"/>
                </a:solidFill>
                <a:latin typeface="Calibri" pitchFamily="34" charset="0"/>
              </a:rPr>
              <a:t>raw ingest</a:t>
            </a:r>
          </a:p>
        </p:txBody>
      </p:sp>
      <p:sp>
        <p:nvSpPr>
          <p:cNvPr id="9" name="BronzeBody"/>
          <p:cNvSpPr/>
          <p:nvPr/>
        </p:nvSpPr>
        <p:spPr>
          <a:xfrm>
            <a:off x="1460000" y="950000"/>
            <a:ext cx="2380000" cy="1600000"/>
          </a:xfrm>
          <a:prstGeom prst="rect">
            <a:avLst/>
          </a:prstGeom>
          <a:solidFill>
            <a:srgbClr val="FFF5EE"/>
          </a:solidFill>
          <a:ln>
            <a:solidFill>
              <a:srgbClr val="C55A11"/>
            </a:solidFill>
          </a:ln>
        </p:spPr>
        <p:txBody>
          <a:bodyPr wrap="square" lIns="54000" tIns="54000" rIns="540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real-time CDC from source systems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PCI project tokenizes PANs before landing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fi_id on every row, JSON payload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Append-only, 7yr retention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850" b="1" dirty="0">
                <a:solidFill>
                  <a:srgbClr val="C55A11"/>
                </a:solidFill>
                <a:latin typeface="Calibri" pitchFamily="34" charset="0"/>
              </a:rPr>
              <a:t>jhbi-pci  →  jhbi-bronze</a:t>
            </a:r>
          </a:p>
        </p:txBody>
      </p:sp>
      <p:sp>
        <p:nvSpPr>
          <p:cNvPr id="10" name="SilverHdr"/>
          <p:cNvSpPr/>
          <p:nvPr/>
        </p:nvSpPr>
        <p:spPr>
          <a:xfrm>
            <a:off x="320040" y="2620000"/>
            <a:ext cx="1100000" cy="1600000"/>
          </a:xfrm>
          <a:prstGeom prst="rect">
            <a:avLst/>
          </a:prstGeom>
          <a:solidFill>
            <a:srgbClr val="7B7B7B"/>
          </a:solidFill>
          <a:ln/>
        </p:spPr>
        <p:txBody>
          <a:bodyPr wrap="square" lIns="36000" rIns="360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SILVER</a:t>
            </a:r>
            <a:br>
              <a:rPr lang="en-US" sz="900" dirty="0">
                <a:solidFill>
                  <a:srgbClr val="E0E0E0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E0E0E0"/>
                </a:solidFill>
                <a:latin typeface="Calibri" pitchFamily="34" charset="0"/>
              </a:rPr>
              <a:t>unified schema</a:t>
            </a:r>
          </a:p>
        </p:txBody>
      </p:sp>
      <p:sp>
        <p:nvSpPr>
          <p:cNvPr id="11" name="SilverBody"/>
          <p:cNvSpPr/>
          <p:nvPr/>
        </p:nvSpPr>
        <p:spPr>
          <a:xfrm>
            <a:off x="1460000" y="2620000"/>
            <a:ext cx="2380000" cy="1600000"/>
          </a:xfrm>
          <a:prstGeom prst="rect">
            <a:avLst/>
          </a:prstGeom>
          <a:solidFill>
            <a:srgbClr val="F5F5F5"/>
          </a:solidFill>
          <a:ln>
            <a:solidFill>
              <a:srgbClr val="7B7B7B"/>
            </a:solidFill>
          </a:ln>
        </p:spPr>
        <p:txBody>
          <a:bodyPr wrap="square" lIns="54000" tIns="54000" rIns="540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Unified schema across all rails and FIs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Dataform Bronze→Silver, Identity/Entity Resolution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Clustered by fi_id + payment_rail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BIAN/ISO 20022 aligned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850" b="1" dirty="0">
                <a:solidFill>
                  <a:srgbClr val="7B7B7B"/>
                </a:solidFill>
                <a:latin typeface="Calibri" pitchFamily="34" charset="0"/>
              </a:rPr>
              <a:t>jhbi-silver  +  jhbi-compute</a:t>
            </a:r>
          </a:p>
        </p:txBody>
      </p:sp>
      <p:sp>
        <p:nvSpPr>
          <p:cNvPr id="12" name="GoldHdr"/>
          <p:cNvSpPr/>
          <p:nvPr/>
        </p:nvSpPr>
        <p:spPr>
          <a:xfrm>
            <a:off x="320040" y="4290000"/>
            <a:ext cx="1100000" cy="1460000"/>
          </a:xfrm>
          <a:prstGeom prst="rect">
            <a:avLst/>
          </a:prstGeom>
          <a:solidFill>
            <a:srgbClr val="D4A017"/>
          </a:solidFill>
          <a:ln/>
        </p:spPr>
        <p:txBody>
          <a:bodyPr wrap="square" lIns="36000" rIns="360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GOLD</a:t>
            </a:r>
            <a:br>
              <a:rPr lang="en-US" sz="900" dirty="0">
                <a:solidFill>
                  <a:srgbClr val="FFF3B0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FFF3B0"/>
                </a:solidFill>
                <a:latin typeface="Calibri" pitchFamily="34" charset="0"/>
              </a:rPr>
              <a:t>JH internal only</a:t>
            </a:r>
          </a:p>
        </p:txBody>
      </p:sp>
      <p:sp>
        <p:nvSpPr>
          <p:cNvPr id="13" name="GoldBody"/>
          <p:cNvSpPr/>
          <p:nvPr/>
        </p:nvSpPr>
        <p:spPr>
          <a:xfrm>
            <a:off x="1460000" y="4290000"/>
            <a:ext cx="2380000" cy="1460000"/>
          </a:xfrm>
          <a:prstGeom prst="rect">
            <a:avLst/>
          </a:prstGeom>
          <a:solidFill>
            <a:srgbClr val="FFFFF0"/>
          </a:solidFill>
          <a:ln>
            <a:solidFill>
              <a:srgbClr val="D4A017"/>
            </a:solidFill>
          </a:ln>
        </p:spPr>
        <p:txBody>
          <a:bodyPr wrap="square" lIns="54000" tIns="54000" rIns="540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Star and Analytic Schema, cross-FI aggregate views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RLS: fi_id enforced on all rows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Vertex AI, Looker, JH data science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JHA analysts only — NOT FI-accessible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850" b="1" dirty="0">
                <a:solidFill>
                  <a:srgbClr val="D4A017"/>
                </a:solidFill>
                <a:latin typeface="Calibri" pitchFamily="34" charset="0"/>
              </a:rPr>
              <a:t>jhbi-datalake-prod</a:t>
            </a:r>
          </a:p>
        </p:txBody>
      </p:sp>
      <p:sp>
        <p:nvSpPr>
          <p:cNvPr id="15" name="PlatHdr"/>
          <p:cNvSpPr/>
          <p:nvPr/>
        </p:nvSpPr>
        <p:spPr>
          <a:xfrm>
            <a:off x="7140000" y="969264"/>
            <a:ext cx="1100000" cy="4800000"/>
          </a:xfrm>
          <a:prstGeom prst="rect">
            <a:avLst/>
          </a:prstGeom>
          <a:solidFill>
            <a:srgbClr val="1E7A4A"/>
          </a:solidFill>
          <a:ln/>
        </p:spPr>
        <p:txBody>
          <a:bodyPr wrap="square" lIns="36000" rIns="360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PLAT.</a:t>
            </a:r>
            <a:br>
              <a:rPr lang="en-US" sz="850" dirty="0">
                <a:solidFill>
                  <a:srgbClr val="B2DFC6"/>
                </a:solidFill>
                <a:latin typeface="Calibri" pitchFamily="34" charset="0"/>
              </a:rPr>
            </a:br>
            <a:r>
              <a:rPr lang="en-US" sz="850" dirty="0">
                <a:solidFill>
                  <a:srgbClr val="B2DFC6"/>
                </a:solidFill>
                <a:latin typeface="Calibri" pitchFamily="34" charset="0"/>
              </a:rPr>
              <a:t>per-FI project</a:t>
            </a:r>
          </a:p>
        </p:txBody>
      </p:sp>
      <p:sp>
        <p:nvSpPr>
          <p:cNvPr id="16" name="PlatBody"/>
          <p:cNvSpPr/>
          <p:nvPr/>
        </p:nvSpPr>
        <p:spPr>
          <a:xfrm>
            <a:off x="8340040" y="950000"/>
            <a:ext cx="3509960" cy="4800000"/>
          </a:xfrm>
          <a:prstGeom prst="rect">
            <a:avLst/>
          </a:prstGeom>
          <a:solidFill>
            <a:srgbClr val="F0FFF4"/>
          </a:solidFill>
          <a:ln>
            <a:solidFill>
              <a:srgbClr val="1E7A4A"/>
            </a:solidFill>
          </a:ln>
        </p:spPr>
        <p:txBody>
          <a:bodyPr wrap="square" lIns="54000" tIns="54000" rIns="540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7A4A"/>
                </a:solidFill>
                <a:latin typeface="Calibri" pitchFamily="34" charset="0"/>
              </a:rPr>
              <a:t>One dedicated GCP project per FI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Provisioned via module/jhbi-fi-tenant (Terraform)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FI-specific BQ dataset, per-FI SA, budget alert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Migrated JHaKnow/ARCU FIs land here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New JHBI FIs with FI-specific data land here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Portal + API + Direct BQ SA (Power BI, Tableau)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VPC Service Controls boundary per FI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Own audit logs, own IAM, zero blast radius</a:t>
            </a:r>
            <a:br>
              <a:rPr lang="en-US" sz="900" dirty="0">
                <a:solidFill>
                  <a:srgbClr val="333333"/>
                </a:solidFill>
                <a:latin typeface="Calibri" pitchFamily="34" charset="0"/>
              </a:rPr>
            </a:br>
            <a:r>
              <a:rPr lang="en-US" sz="850" b="1" dirty="0">
                <a:solidFill>
                  <a:srgbClr val="1E7A4A"/>
                </a:solidFill>
                <a:latin typeface="Calibri" pitchFamily="34" charset="0"/>
              </a:rPr>
              <a:t>jhbi-fi-{name}-prod (one per FI)</a:t>
            </a:r>
          </a:p>
        </p:txBody>
      </p:sp>
      <p:sp>
        <p:nvSpPr>
          <p:cNvPr id="17" name="Footer"/>
          <p:cNvSpPr/>
          <p:nvPr/>
        </p:nvSpPr>
        <p:spPr>
          <a:xfrm>
            <a:off x="320040" y="5830000"/>
            <a:ext cx="1153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0" dirty="0">
                <a:solidFill>
                  <a:srgbClr val="666666"/>
                </a:solidFill>
                <a:latin typeface="Calibri" pitchFamily="34" charset="0"/>
              </a:rPr>
              <a:t>Jack Henry Business Intelligence  |  GCP Data Architecture  |  Confidential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8ECE7C50-539B-614B-684B-C74AC4D4021B}"/>
              </a:ext>
            </a:extLst>
          </p:cNvPr>
          <p:cNvSpPr/>
          <p:nvPr/>
        </p:nvSpPr>
        <p:spPr>
          <a:xfrm>
            <a:off x="4153360" y="3171560"/>
            <a:ext cx="2326640" cy="4368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93E59785-F7E1-F9E9-8593-16DD6110AAB6}"/>
              </a:ext>
            </a:extLst>
          </p:cNvPr>
          <p:cNvSpPr/>
          <p:nvPr/>
        </p:nvSpPr>
        <p:spPr>
          <a:xfrm>
            <a:off x="4200040" y="4781560"/>
            <a:ext cx="2326640" cy="4368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lide 1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avBar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320040" y="60000"/>
            <a:ext cx="11550000" cy="40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</a:rPr>
              <a:t>Cost Attribution — Option A vs. Option B</a:t>
            </a:r>
          </a:p>
        </p:txBody>
      </p:sp>
      <p:sp>
        <p:nvSpPr>
          <p:cNvPr id="4" name="Subtitle"/>
          <p:cNvSpPr/>
          <p:nvPr/>
        </p:nvSpPr>
        <p:spPr>
          <a:xfrm>
            <a:off x="320040" y="420000"/>
            <a:ext cx="11550000" cy="200000"/>
          </a:xfrm>
          <a:prstGeom prst="rect">
            <a:avLst/>
          </a:prstGeom>
          <a:noFill/>
        </p:spPr>
        <p:txBody>
          <a:bodyPr/>
          <a:lstStyle/>
          <a:p>
            <a:pPr>
              <a:buNone/>
            </a:pPr>
            <a:r>
              <a:rPr lang="en-US" sz="13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</a:rPr>
              <a:t>How JHBI costs are tracked, split, and attributed per FI · Three cost dimensions</a:t>
            </a:r>
          </a:p>
        </p:txBody>
      </p:sp>
      <p:sp>
        <p:nvSpPr>
          <p:cNvPr id="5" name="OptionAHeader"/>
          <p:cNvSpPr/>
          <p:nvPr/>
        </p:nvSpPr>
        <p:spPr>
          <a:xfrm>
            <a:off x="320040" y="740000"/>
            <a:ext cx="5500000" cy="250000"/>
          </a:xfrm>
          <a:prstGeom prst="rect">
            <a:avLst/>
          </a:prstGeom>
          <a:solidFill>
            <a:srgbClr val="C55A11"/>
          </a:solidFill>
        </p:spPr>
        <p:txBody>
          <a:bodyPr/>
          <a:lstStyle/>
          <a:p>
            <a:pPr>
              <a:buNone/>
            </a:pPr>
            <a:r>
              <a:rPr lang="en-US" sz="1200" dirty="0">
                <a:latin typeface="Calibri" pitchFamily="34" charset="0"/>
              </a:rPr>
              <a:t>Option A: Shared Infrastructure</a:t>
            </a:r>
          </a:p>
        </p:txBody>
      </p:sp>
      <p:sp>
        <p:nvSpPr>
          <p:cNvPr id="6" name="OptionBHeader"/>
          <p:cNvSpPr/>
          <p:nvPr/>
        </p:nvSpPr>
        <p:spPr>
          <a:xfrm>
            <a:off x="6370000" y="740000"/>
            <a:ext cx="5500000" cy="250000"/>
          </a:xfrm>
          <a:prstGeom prst="rect">
            <a:avLst/>
          </a:prstGeom>
          <a:solidFill>
            <a:srgbClr val="1E7A4A"/>
          </a:solidFill>
        </p:spPr>
        <p:txBody>
          <a:bodyPr/>
          <a:lstStyle/>
          <a:p>
            <a:pPr>
              <a:buNone/>
            </a:pPr>
            <a:r>
              <a:rPr lang="en-US" sz="1200" dirty="0">
                <a:latin typeface="Calibri" pitchFamily="34" charset="0"/>
              </a:rPr>
              <a:t>Option B: Dedicated JHBI Projects ✓</a:t>
            </a:r>
          </a:p>
        </p:txBody>
      </p:sp>
      <p:sp>
        <p:nvSpPr>
          <p:cNvPr id="7" name="Row1Label"/>
          <p:cNvSpPr/>
          <p:nvPr/>
        </p:nvSpPr>
        <p:spPr>
          <a:xfrm>
            <a:off x="320040" y="1060000"/>
            <a:ext cx="5500000" cy="25000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>
            <a:pPr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Compute Cost</a:t>
            </a:r>
          </a:p>
        </p:txBody>
      </p:sp>
      <p:sp>
        <p:nvSpPr>
          <p:cNvPr id="8" name="Row1BodyA"/>
          <p:cNvSpPr/>
          <p:nvPr/>
        </p:nvSpPr>
        <p:spPr>
          <a:xfrm>
            <a:off x="320040" y="1310000"/>
            <a:ext cx="5500000" cy="1150000"/>
          </a:xfrm>
          <a:prstGeom prst="rect">
            <a:avLst/>
          </a:prstGeom>
          <a:solidFill>
            <a:srgbClr val="FFF3E0"/>
          </a:solidFill>
          <a:ln w="19050">
            <a:solidFill>
              <a:srgbClr val="C55A11"/>
            </a:solidFill>
          </a:ln>
        </p:spPr>
        <p:txBody>
          <a:bodyPr lIns="100000" tIns="100000" rIns="100000" bIns="100000" anchor="t"/>
          <a:lstStyle/>
          <a:p>
            <a:pPr>
              <a:buNone/>
            </a:pPr>
            <a:r>
              <a:rPr lang="en-US" sz="900" dirty="0">
                <a:latin typeface="Calibri" pitchFamily="34" charset="0"/>
              </a:rPr>
              <a:t>fi_id job label required on every BQ job. Enforced via shared query-execution module. GCP Billing Export → GROUP BY fi_id label. Fragile — any job that skips labeling breaks attribution. Shared JHA project means JHaKnow/ARCU costs mixed in.</a:t>
            </a:r>
          </a:p>
        </p:txBody>
      </p:sp>
      <p:sp>
        <p:nvSpPr>
          <p:cNvPr id="9" name="Row1LabelB"/>
          <p:cNvSpPr/>
          <p:nvPr/>
        </p:nvSpPr>
        <p:spPr>
          <a:xfrm>
            <a:off x="6370000" y="1060000"/>
            <a:ext cx="5500000" cy="25000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>
            <a:pPr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Compute Cost</a:t>
            </a:r>
          </a:p>
        </p:txBody>
      </p:sp>
      <p:sp>
        <p:nvSpPr>
          <p:cNvPr id="10" name="Row1BodyB"/>
          <p:cNvSpPr/>
          <p:nvPr/>
        </p:nvSpPr>
        <p:spPr>
          <a:xfrm>
            <a:off x="6370000" y="1310000"/>
            <a:ext cx="5500000" cy="1150000"/>
          </a:xfrm>
          <a:prstGeom prst="rect">
            <a:avLst/>
          </a:prstGeom>
          <a:solidFill>
            <a:srgbClr val="F0FFF4"/>
          </a:solidFill>
          <a:ln w="19050">
            <a:solidFill>
              <a:srgbClr val="1E7A4A"/>
            </a:solidFill>
          </a:ln>
        </p:spPr>
        <p:txBody>
          <a:bodyPr lIns="100000" tIns="100000" rIns="100000" bIns="100000" anchor="t"/>
          <a:lstStyle/>
          <a:p>
            <a:pPr>
              <a:buNone/>
            </a:pPr>
            <a:r>
              <a:rPr lang="en-US" sz="900" dirty="0">
                <a:latin typeface="Calibri" pitchFamily="34" charset="0"/>
              </a:rPr>
              <a:t>Each FI's Platinum project has its own billing line. JHBI datalake project (Gold) is a separate cost center from FI serving costs. GCP Billing Export → GROUP BY project.id — no label filtering needed. Dataform pipeline costs cleanly separated from FI API serving costs.</a:t>
            </a:r>
          </a:p>
        </p:txBody>
      </p:sp>
      <p:sp>
        <p:nvSpPr>
          <p:cNvPr id="11" name="Row2Label"/>
          <p:cNvSpPr/>
          <p:nvPr/>
        </p:nvSpPr>
        <p:spPr>
          <a:xfrm>
            <a:off x="320040" y="2560000"/>
            <a:ext cx="5500000" cy="25000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>
            <a:pPr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Storage Cost</a:t>
            </a:r>
          </a:p>
        </p:txBody>
      </p:sp>
      <p:sp>
        <p:nvSpPr>
          <p:cNvPr id="12" name="Row2BodyA"/>
          <p:cNvSpPr/>
          <p:nvPr/>
        </p:nvSpPr>
        <p:spPr>
          <a:xfrm>
            <a:off x="320040" y="2810000"/>
            <a:ext cx="5500000" cy="1150000"/>
          </a:xfrm>
          <a:prstGeom prst="rect">
            <a:avLst/>
          </a:prstGeom>
          <a:solidFill>
            <a:srgbClr val="FFF3E0"/>
          </a:solidFill>
          <a:ln w="19050">
            <a:solidFill>
              <a:srgbClr val="C55A11"/>
            </a:solidFill>
          </a:ln>
        </p:spPr>
        <p:txBody>
          <a:bodyPr lIns="100000" tIns="100000" rIns="100000" bIns="100000" anchor="t"/>
          <a:lstStyle/>
          <a:p>
            <a:pPr>
              <a:buNone/>
            </a:pPr>
            <a:r>
              <a:rPr lang="en-US" sz="900" dirty="0">
                <a:latin typeface="Calibri" pitchFamily="34" charset="0"/>
              </a:rPr>
              <a:t>No native per-FI storage attribution. FI data in shared gold project — can't isolate by FI without row-count proxy. Monthly row-count proxy query → prorate total storage by fi_id row share. Approximate — not auditable at GCP billing level.</a:t>
            </a:r>
          </a:p>
        </p:txBody>
      </p:sp>
      <p:sp>
        <p:nvSpPr>
          <p:cNvPr id="13" name="Row2LabelB"/>
          <p:cNvSpPr/>
          <p:nvPr/>
        </p:nvSpPr>
        <p:spPr>
          <a:xfrm>
            <a:off x="6370000" y="2560000"/>
            <a:ext cx="5500000" cy="25000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>
            <a:pPr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Storage Cost</a:t>
            </a:r>
          </a:p>
        </p:txBody>
      </p:sp>
      <p:sp>
        <p:nvSpPr>
          <p:cNvPr id="14" name="Row2BodyB"/>
          <p:cNvSpPr/>
          <p:nvPr/>
        </p:nvSpPr>
        <p:spPr>
          <a:xfrm>
            <a:off x="6370000" y="2810000"/>
            <a:ext cx="5500000" cy="1150000"/>
          </a:xfrm>
          <a:prstGeom prst="rect">
            <a:avLst/>
          </a:prstGeom>
          <a:solidFill>
            <a:srgbClr val="F0FFF4"/>
          </a:solidFill>
          <a:ln w="19050">
            <a:solidFill>
              <a:srgbClr val="1E7A4A"/>
            </a:solidFill>
          </a:ln>
        </p:spPr>
        <p:txBody>
          <a:bodyPr lIns="100000" tIns="100000" rIns="100000" bIns="100000" anchor="t"/>
          <a:lstStyle/>
          <a:p>
            <a:pPr>
              <a:buNone/>
            </a:pPr>
            <a:r>
              <a:rPr lang="en-US" sz="900" dirty="0">
                <a:latin typeface="Calibri" pitchFamily="34" charset="0"/>
              </a:rPr>
              <a:t>Platinum dataset is per-FI project → storage cost natively attributed per FI at GCP billing level. Gold (JH-internal) storage is a separate project billing line. No proxy query needed. INFORMATION_SCHEMA.TABLE_STORAGE shows per-FI bytes in Platinum.</a:t>
            </a:r>
          </a:p>
        </p:txBody>
      </p:sp>
      <p:sp>
        <p:nvSpPr>
          <p:cNvPr id="15" name="Row3Label"/>
          <p:cNvSpPr/>
          <p:nvPr/>
        </p:nvSpPr>
        <p:spPr>
          <a:xfrm>
            <a:off x="320040" y="4060000"/>
            <a:ext cx="5500000" cy="25000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>
            <a:pPr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API / Serving Cost</a:t>
            </a:r>
          </a:p>
        </p:txBody>
      </p:sp>
      <p:sp>
        <p:nvSpPr>
          <p:cNvPr id="16" name="Row3BodyA"/>
          <p:cNvSpPr/>
          <p:nvPr/>
        </p:nvSpPr>
        <p:spPr>
          <a:xfrm>
            <a:off x="320040" y="4310000"/>
            <a:ext cx="5500000" cy="1150000"/>
          </a:xfrm>
          <a:prstGeom prst="rect">
            <a:avLst/>
          </a:prstGeom>
          <a:solidFill>
            <a:srgbClr val="FFF3E0"/>
          </a:solidFill>
          <a:ln w="19050">
            <a:solidFill>
              <a:srgbClr val="C55A11"/>
            </a:solidFill>
          </a:ln>
        </p:spPr>
        <p:txBody>
          <a:bodyPr lIns="100000" tIns="100000" rIns="100000" bIns="100000" anchor="t"/>
          <a:lstStyle/>
          <a:p>
            <a:pPr>
              <a:buNone/>
            </a:pPr>
            <a:r>
              <a:rPr lang="en-US" sz="900" dirty="0">
                <a:latin typeface="Calibri" pitchFamily="34" charset="0"/>
              </a:rPr>
              <a:t>API serving and pipeline orchestration share jhbi-compute project. Log every API call to metering table: fi_id + endpoint + rows_returned + bytes_billed. Serving + pipeline costs in the same billing line — hard to split without labels.</a:t>
            </a:r>
          </a:p>
        </p:txBody>
      </p:sp>
      <p:sp>
        <p:nvSpPr>
          <p:cNvPr id="17" name="Row3LabelB"/>
          <p:cNvSpPr/>
          <p:nvPr/>
        </p:nvSpPr>
        <p:spPr>
          <a:xfrm>
            <a:off x="6370000" y="4060000"/>
            <a:ext cx="5500000" cy="250000"/>
          </a:xfrm>
          <a:prstGeom prst="rect">
            <a:avLst/>
          </a:prstGeom>
          <a:solidFill>
            <a:srgbClr val="1F4E79"/>
          </a:solidFill>
        </p:spPr>
        <p:txBody>
          <a:bodyPr/>
          <a:lstStyle/>
          <a:p>
            <a:pPr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</a:rPr>
              <a:t>API / Serving Cost</a:t>
            </a:r>
          </a:p>
        </p:txBody>
      </p:sp>
      <p:sp>
        <p:nvSpPr>
          <p:cNvPr id="18" name="Row3BodyB"/>
          <p:cNvSpPr/>
          <p:nvPr/>
        </p:nvSpPr>
        <p:spPr>
          <a:xfrm>
            <a:off x="6370000" y="4310000"/>
            <a:ext cx="5500000" cy="1150000"/>
          </a:xfrm>
          <a:prstGeom prst="rect">
            <a:avLst/>
          </a:prstGeom>
          <a:solidFill>
            <a:srgbClr val="F0FFF4"/>
          </a:solidFill>
          <a:ln w="19050">
            <a:solidFill>
              <a:srgbClr val="1E7A4A"/>
            </a:solidFill>
          </a:ln>
        </p:spPr>
        <p:txBody>
          <a:bodyPr lIns="100000" tIns="100000" rIns="100000" bIns="100000" anchor="t"/>
          <a:lstStyle/>
          <a:p>
            <a:pPr>
              <a:buNone/>
            </a:pPr>
            <a:r>
              <a:rPr lang="en-US" sz="900" dirty="0">
                <a:latin typeface="Calibri" pitchFamily="34" charset="0"/>
              </a:rPr>
              <a:t>Platinum project can host per-FI API serving OR shared serving project with fi_id labels. Either way: metering table gives finest granularity. Option: jhbi-services-prod (shared Cloud Run) bills centrally; per-FI serving cost tracked via metering table + fi_id label.</a:t>
            </a:r>
          </a:p>
        </p:txBody>
      </p:sp>
      <p:sp>
        <p:nvSpPr>
          <p:cNvPr id="19" name="SummaryBar"/>
          <p:cNvSpPr/>
          <p:nvPr/>
        </p:nvSpPr>
        <p:spPr>
          <a:xfrm>
            <a:off x="0" y="5580000"/>
            <a:ext cx="12192000" cy="300000"/>
          </a:xfrm>
          <a:prstGeom prst="rect">
            <a:avLst/>
          </a:prstGeom>
          <a:solidFill>
            <a:srgbClr val="1F4E79"/>
          </a:solidFill>
        </p:spPr>
        <p:txBody>
          <a:bodyPr lIns="100000" tIns="50000" rIns="100000" bIns="50000" anchor="ctr"/>
          <a:lstStyle/>
          <a:p>
            <a:pPr>
              <a:buNone/>
            </a:pPr>
            <a:r>
              <a:rPr lang="en-US" sz="1000" dirty="0">
                <a:latin typeface="Calibri" pitchFamily="34" charset="0"/>
              </a:rPr>
              <a:t>Option B eliminates label fragility for compute and storage. API serving cost still benefits from metering table regardless of option.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opBar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lideTitle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Shared Compute Project — Challenges &amp; Mitigations</a:t>
            </a:r>
          </a:p>
        </p:txBody>
      </p:sp>
      <p:sp>
        <p:nvSpPr>
          <p:cNvPr id="5" name="SlideSubtitle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DC3E6"/>
                </a:solidFill>
                <a:latin typeface="Calibri" pitchFamily="34" charset="0"/>
              </a:rPr>
              <a:t>Blast-radius and noisy-neighbor analysis</a:t>
            </a:r>
          </a:p>
        </p:txBody>
      </p:sp>
      <p:sp>
        <p:nvSpPr>
          <p:cNvPr id="6" name="HeaderBox"/>
          <p:cNvSpPr/>
          <p:nvPr/>
        </p:nvSpPr>
        <p:spPr>
          <a:xfrm>
            <a:off x="320040" y="779999"/>
            <a:ext cx="11500000" cy="469349"/>
          </a:xfrm>
          <a:prstGeom prst="rect">
            <a:avLst/>
          </a:prstGeom>
          <a:solidFill>
            <a:srgbClr val="EBF3FB"/>
          </a:solidFill>
          <a:ln/>
        </p:spPr>
        <p:txBody>
          <a:bodyPr wrap="square" lIns="200000" tIns="1500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</a:rPr>
              <a:t>Avoid the noisy-neighbor risk, blast-radius overlap, and cost attribution gap.</a:t>
            </a:r>
          </a:p>
        </p:txBody>
      </p:sp>
      <p:sp>
        <p:nvSpPr>
          <p:cNvPr id="7" name="ChallengesHeader"/>
          <p:cNvSpPr/>
          <p:nvPr/>
        </p:nvSpPr>
        <p:spPr>
          <a:xfrm>
            <a:off x="320040" y="1288471"/>
            <a:ext cx="5500000" cy="46935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Challenges</a:t>
            </a:r>
          </a:p>
        </p:txBody>
      </p:sp>
      <p:sp>
        <p:nvSpPr>
          <p:cNvPr id="8" name="Challenge1Box"/>
          <p:cNvSpPr/>
          <p:nvPr/>
        </p:nvSpPr>
        <p:spPr>
          <a:xfrm>
            <a:off x="320040" y="1824955"/>
            <a:ext cx="5500000" cy="782250"/>
          </a:xfrm>
          <a:prstGeom prst="rect">
            <a:avLst/>
          </a:prstGeom>
          <a:solidFill>
            <a:srgbClr val="FFF0F0"/>
          </a:solidFill>
          <a:ln w="50000">
            <a:solidFill>
              <a:srgbClr val="C00000"/>
            </a:solidFill>
          </a:ln>
        </p:spPr>
        <p:txBody>
          <a:bodyPr wrap="square" lIns="100000" tIns="800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</a:rPr>
              <a:t>Noisy Neighbor — Slot Contention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Dataform pipeline runs and Cloud Run API queries share the same BigQuery slot quota within jhbi-compute-prod. A large FI batch job can starve API response SLAs.</a:t>
            </a:r>
          </a:p>
        </p:txBody>
      </p:sp>
      <p:sp>
        <p:nvSpPr>
          <p:cNvPr id="9" name="Challenge2Box"/>
          <p:cNvSpPr/>
          <p:nvPr/>
        </p:nvSpPr>
        <p:spPr>
          <a:xfrm>
            <a:off x="320040" y="2424955"/>
            <a:ext cx="5500000" cy="782250"/>
          </a:xfrm>
          <a:prstGeom prst="rect">
            <a:avLst/>
          </a:prstGeom>
          <a:solidFill>
            <a:srgbClr val="FFF0F0"/>
          </a:solidFill>
          <a:ln w="50000">
            <a:solidFill>
              <a:srgbClr val="C00000"/>
            </a:solidFill>
          </a:ln>
        </p:spPr>
        <p:txBody>
          <a:bodyPr wrap="square" lIns="100000" tIns="800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</a:rPr>
              <a:t>Over-Broad IAM Blast Radius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Cloud Composer service account in jhbi-compute-prod must read Bronze, write Silver, and read Gold. A compromised Composer SA has access to all three data layers simultaneously.</a:t>
            </a:r>
          </a:p>
        </p:txBody>
      </p:sp>
      <p:sp>
        <p:nvSpPr>
          <p:cNvPr id="10" name="Challenge3Box"/>
          <p:cNvSpPr/>
          <p:nvPr/>
        </p:nvSpPr>
        <p:spPr>
          <a:xfrm>
            <a:off x="320040" y="3024955"/>
            <a:ext cx="5500000" cy="782250"/>
          </a:xfrm>
          <a:prstGeom prst="rect">
            <a:avLst/>
          </a:prstGeom>
          <a:solidFill>
            <a:srgbClr val="FFF0F0"/>
          </a:solidFill>
          <a:ln w="50000">
            <a:solidFill>
              <a:srgbClr val="C00000"/>
            </a:solidFill>
          </a:ln>
        </p:spPr>
        <p:txBody>
          <a:bodyPr wrap="square" lIns="100000" tIns="800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</a:rPr>
              <a:t>API + Orchestration in One Project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Cloud Run (FI-facing APIs) and Composer (internal data pipelines) share the same project. A misconfigured IAM binding on a Cloud Run SA could grant access to pipeline service accounts.</a:t>
            </a:r>
          </a:p>
        </p:txBody>
      </p:sp>
      <p:sp>
        <p:nvSpPr>
          <p:cNvPr id="11" name="Challenge4Box"/>
          <p:cNvSpPr/>
          <p:nvPr/>
        </p:nvSpPr>
        <p:spPr>
          <a:xfrm>
            <a:off x="320040" y="3624955"/>
            <a:ext cx="5500000" cy="782250"/>
          </a:xfrm>
          <a:prstGeom prst="rect">
            <a:avLst/>
          </a:prstGeom>
          <a:solidFill>
            <a:srgbClr val="FFF0F0"/>
          </a:solidFill>
          <a:ln w="50000">
            <a:solidFill>
              <a:srgbClr val="C00000"/>
            </a:solidFill>
          </a:ln>
        </p:spPr>
        <p:txBody>
          <a:bodyPr wrap="square" lIns="100000" tIns="800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</a:rPr>
              <a:t>Cost Attribution Ambiguity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API serving costs (Cloud Run, API Gateway) and pipeline costs (Composer, Dataform) land in the same billing line. Hard to separate FI data-serving cost from JH internal pipeline cost.</a:t>
            </a:r>
          </a:p>
        </p:txBody>
      </p:sp>
      <p:sp>
        <p:nvSpPr>
          <p:cNvPr id="12" name="Challenge5Box"/>
          <p:cNvSpPr/>
          <p:nvPr/>
        </p:nvSpPr>
        <p:spPr>
          <a:xfrm>
            <a:off x="320040" y="4224955"/>
            <a:ext cx="5500000" cy="782250"/>
          </a:xfrm>
          <a:prstGeom prst="rect">
            <a:avLst/>
          </a:prstGeom>
          <a:solidFill>
            <a:srgbClr val="FFF0F0"/>
          </a:solidFill>
          <a:ln w="50000">
            <a:solidFill>
              <a:srgbClr val="C00000"/>
            </a:solidFill>
          </a:ln>
        </p:spPr>
        <p:txBody>
          <a:bodyPr wrap="square" lIns="100000" tIns="800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</a:rPr>
              <a:t>Single Quota Budget Alert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One GCP budget alert covers both serving and pipeline workloads. A runaway Dataform job won't trigger an alert distinct from an API traffic spike — both look the same in billing.</a:t>
            </a:r>
          </a:p>
        </p:txBody>
      </p:sp>
      <p:sp>
        <p:nvSpPr>
          <p:cNvPr id="13" name="MitigationsHeader"/>
          <p:cNvSpPr/>
          <p:nvPr/>
        </p:nvSpPr>
        <p:spPr>
          <a:xfrm>
            <a:off x="6100000" y="1288471"/>
            <a:ext cx="5750000" cy="469350"/>
          </a:xfrm>
          <a:prstGeom prst="rect">
            <a:avLst/>
          </a:prstGeom>
          <a:solidFill>
            <a:srgbClr val="1E7A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Mitigations</a:t>
            </a:r>
          </a:p>
        </p:txBody>
      </p:sp>
      <p:sp>
        <p:nvSpPr>
          <p:cNvPr id="14" name="Mitigation1Box"/>
          <p:cNvSpPr/>
          <p:nvPr/>
        </p:nvSpPr>
        <p:spPr>
          <a:xfrm>
            <a:off x="6100000" y="1824955"/>
            <a:ext cx="5750000" cy="782250"/>
          </a:xfrm>
          <a:prstGeom prst="rect">
            <a:avLst/>
          </a:prstGeom>
          <a:solidFill>
            <a:srgbClr val="F0FFF4"/>
          </a:solidFill>
          <a:ln w="50000">
            <a:solidFill>
              <a:srgbClr val="1E7A4A"/>
            </a:solidFill>
          </a:ln>
        </p:spPr>
        <p:txBody>
          <a:bodyPr wrap="square" lIns="100000" tIns="800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7A4A"/>
                </a:solidFill>
                <a:latin typeface="Calibri" pitchFamily="34" charset="0"/>
              </a:rPr>
              <a:t>BigQuery Slot Reservations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Create separate slot reservations: jhbi-pipeline-reservation (Dataform/Composer) vs. jhbi-api-reservation (Cloud Run queries). Assign each reservation to the relevant job_type label.</a:t>
            </a:r>
          </a:p>
        </p:txBody>
      </p:sp>
      <p:sp>
        <p:nvSpPr>
          <p:cNvPr id="15" name="Mitigation2Box"/>
          <p:cNvSpPr/>
          <p:nvPr/>
        </p:nvSpPr>
        <p:spPr>
          <a:xfrm>
            <a:off x="6100000" y="2424955"/>
            <a:ext cx="5750000" cy="782250"/>
          </a:xfrm>
          <a:prstGeom prst="rect">
            <a:avLst/>
          </a:prstGeom>
          <a:solidFill>
            <a:srgbClr val="F0FFF4"/>
          </a:solidFill>
          <a:ln w="50000">
            <a:solidFill>
              <a:srgbClr val="1E7A4A"/>
            </a:solidFill>
          </a:ln>
        </p:spPr>
        <p:txBody>
          <a:bodyPr wrap="square" lIns="100000" tIns="800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7A4A"/>
                </a:solidFill>
                <a:latin typeface="Calibri" pitchFamily="34" charset="0"/>
              </a:rPr>
              <a:t>Separate IAM Service Accounts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Use distinct SAs: composer-sa (read Bronze, write Silver only), gold-reader-sa (read Gold only), api-sa (Cloud Run to API Gateway only). No single SA spans all layers.</a:t>
            </a:r>
          </a:p>
        </p:txBody>
      </p:sp>
      <p:sp>
        <p:nvSpPr>
          <p:cNvPr id="16" name="Mitigation3Box"/>
          <p:cNvSpPr/>
          <p:nvPr/>
        </p:nvSpPr>
        <p:spPr>
          <a:xfrm>
            <a:off x="6100000" y="3024955"/>
            <a:ext cx="5750000" cy="782250"/>
          </a:xfrm>
          <a:prstGeom prst="rect">
            <a:avLst/>
          </a:prstGeom>
          <a:solidFill>
            <a:srgbClr val="F0FFF4"/>
          </a:solidFill>
          <a:ln w="50000">
            <a:solidFill>
              <a:srgbClr val="1E7A4A"/>
            </a:solidFill>
          </a:ln>
        </p:spPr>
        <p:txBody>
          <a:bodyPr wrap="square" lIns="100000" tIns="800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7A4A"/>
                </a:solidFill>
                <a:latin typeface="Calibri" pitchFamily="34" charset="0"/>
              </a:rPr>
              <a:t>Split Compute into Two Projects (Target)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Split jhbi-compute-prod into jhbi-pipeline-prod (Composer, Dataform) and jhbi-services-prod (Cloud Run, API Gateway). Cleanest separation — zero shared IAM namespace.</a:t>
            </a:r>
          </a:p>
        </p:txBody>
      </p:sp>
      <p:sp>
        <p:nvSpPr>
          <p:cNvPr id="17" name="Mitigation4Box"/>
          <p:cNvSpPr/>
          <p:nvPr/>
        </p:nvSpPr>
        <p:spPr>
          <a:xfrm>
            <a:off x="6100000" y="3624955"/>
            <a:ext cx="5750000" cy="782250"/>
          </a:xfrm>
          <a:prstGeom prst="rect">
            <a:avLst/>
          </a:prstGeom>
          <a:solidFill>
            <a:srgbClr val="F0FFF4"/>
          </a:solidFill>
          <a:ln w="50000">
            <a:solidFill>
              <a:srgbClr val="1E7A4A"/>
            </a:solidFill>
          </a:ln>
        </p:spPr>
        <p:txBody>
          <a:bodyPr wrap="square" lIns="100000" tIns="800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7A4A"/>
                </a:solidFill>
                <a:latin typeface="Calibri" pitchFamily="34" charset="0"/>
              </a:rPr>
              <a:t>workload_type Job Labels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Mandatory labels: workload_type=pipeline or workload_type=api-serving on all BQ jobs. GCP Billing Export GROUP BY label gives clean cost split without project separation.</a:t>
            </a:r>
          </a:p>
        </p:txBody>
      </p:sp>
      <p:sp>
        <p:nvSpPr>
          <p:cNvPr id="18" name="Mitigation5Box"/>
          <p:cNvSpPr/>
          <p:nvPr/>
        </p:nvSpPr>
        <p:spPr>
          <a:xfrm>
            <a:off x="6100000" y="4224955"/>
            <a:ext cx="5750000" cy="782250"/>
          </a:xfrm>
          <a:prstGeom prst="rect">
            <a:avLst/>
          </a:prstGeom>
          <a:solidFill>
            <a:srgbClr val="F0FFF4"/>
          </a:solidFill>
          <a:ln w="50000">
            <a:solidFill>
              <a:srgbClr val="1E7A4A"/>
            </a:solidFill>
          </a:ln>
        </p:spPr>
        <p:txBody>
          <a:bodyPr wrap="square" lIns="100000" tIns="800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7A4A"/>
                </a:solidFill>
                <a:latin typeface="Calibri" pitchFamily="34" charset="0"/>
              </a:rPr>
              <a:t>Two Budget Alerts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</a:rPr>
              <a:t>Even within a single project, create two Billing Budgets filtered by label: one for pipeline workloads, one for serving. Separate PagerDuty channels for each alert.</a:t>
            </a:r>
          </a:p>
        </p:txBody>
      </p:sp>
      <p:sp>
        <p:nvSpPr>
          <p:cNvPr id="19" name="RecommendationBox"/>
          <p:cNvSpPr/>
          <p:nvPr/>
        </p:nvSpPr>
        <p:spPr>
          <a:xfrm>
            <a:off x="320040" y="5207205"/>
            <a:ext cx="11500000" cy="6000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200000" tIns="1000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Architecture Target: Split jhbi-compute-prod into jhbi-pipeline-prod + jhbi-services-prod. Until then, apply SA isolation and slot reservations as immediate mitigations. This is Terraform-trivial — no application code changes required.</a:t>
            </a:r>
          </a:p>
        </p:txBody>
      </p:sp>
      <p:sp>
        <p:nvSpPr>
          <p:cNvPr id="20" name="FooterBar"/>
          <p:cNvSpPr/>
          <p:nvPr/>
        </p:nvSpPr>
        <p:spPr>
          <a:xfrm>
            <a:off x="0" y="6566448"/>
            <a:ext cx="12192000" cy="2915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FooterText"/>
          <p:cNvSpPr/>
          <p:nvPr/>
        </p:nvSpPr>
        <p:spPr>
          <a:xfrm>
            <a:off x="320040" y="6590000"/>
            <a:ext cx="1143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</a:rPr>
              <a:t>Jack Henry Business Intelligence  |  GCP Project Topology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opBar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lideTitle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FI-Specific "Platinum" Projects — JHBI-Managed via Terraform</a:t>
            </a:r>
          </a:p>
        </p:txBody>
      </p:sp>
      <p:sp>
        <p:nvSpPr>
          <p:cNvPr id="5" name="SlideSubtitle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DC3E6"/>
                </a:solidFill>
                <a:latin typeface="Calibri" pitchFamily="34" charset="0"/>
              </a:rPr>
              <a:t>Per-FI GCP project provisioned and owned by JHBI  ·  FIs never interact with GCP directly</a:t>
            </a:r>
          </a:p>
        </p:txBody>
      </p:sp>
      <p:sp>
        <p:nvSpPr>
          <p:cNvPr id="6" name="ProsHeader"/>
          <p:cNvSpPr/>
          <p:nvPr/>
        </p:nvSpPr>
        <p:spPr>
          <a:xfrm>
            <a:off x="320040" y="780000"/>
            <a:ext cx="3600000" cy="300000"/>
          </a:xfrm>
          <a:prstGeom prst="rect">
            <a:avLst/>
          </a:prstGeom>
          <a:solidFill>
            <a:srgbClr val="1E7A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Advantages</a:t>
            </a:r>
          </a:p>
        </p:txBody>
      </p:sp>
      <p:sp>
        <p:nvSpPr>
          <p:cNvPr id="7" name="ProsContent"/>
          <p:cNvSpPr/>
          <p:nvPr/>
        </p:nvSpPr>
        <p:spPr>
          <a:xfrm>
            <a:off x="320040" y="1200000"/>
            <a:ext cx="3600000" cy="3500000"/>
          </a:xfrm>
          <a:prstGeom prst="rect">
            <a:avLst/>
          </a:prstGeom>
          <a:solidFill>
            <a:srgbClr val="F0FFF4"/>
          </a:solidFill>
          <a:ln w="50000">
            <a:solidFill>
              <a:srgbClr val="1E7A4A"/>
            </a:solidFill>
          </a:ln>
        </p:spPr>
        <p:txBody>
          <a:bodyPr wrap="square" lIns="100000" tIns="800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3D1C"/>
                </a:solidFill>
                <a:latin typeface="Calibri" pitchFamily="34" charset="0"/>
              </a:rPr>
              <a:t>✓  Native per-FI billing — GCP project = natural cost boundary. No labels required.
✓  Hardest possible IAM isolation — one FI's misconfigured SA cannot affect any other FI's project.
✓  Per-FI budget alerts — a runaway FI workload triggers its own alert, not a shared alert.
✓  Per-FI quota controls — one FI's Power BI DirectQuery spike can't starve another.
✓  Cleanest SOC 2 audit scope — per-FI project audit logs scoped natively, no label filtering.
✓  FI data residency clauses satisfied natively — org policy enforces location per project.
✓  Clean offboarding — terraform destroy on the FI's project leaves no residual data or IAM.
✓  Migration-safe — FI downstream integrations (Power BI, Tableau) use same table names.</a:t>
            </a:r>
          </a:p>
        </p:txBody>
      </p:sp>
      <p:sp>
        <p:nvSpPr>
          <p:cNvPr id="8" name="ConsHeader"/>
          <p:cNvSpPr/>
          <p:nvPr/>
        </p:nvSpPr>
        <p:spPr>
          <a:xfrm>
            <a:off x="4200000" y="780000"/>
            <a:ext cx="3600000" cy="30000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Challenges</a:t>
            </a:r>
          </a:p>
        </p:txBody>
      </p:sp>
      <p:sp>
        <p:nvSpPr>
          <p:cNvPr id="9" name="ConsContent"/>
          <p:cNvSpPr/>
          <p:nvPr/>
        </p:nvSpPr>
        <p:spPr>
          <a:xfrm>
            <a:off x="4200000" y="1200000"/>
            <a:ext cx="3600000" cy="3500000"/>
          </a:xfrm>
          <a:prstGeom prst="rect">
            <a:avLst/>
          </a:prstGeom>
          <a:solidFill>
            <a:srgbClr val="FFF0F0"/>
          </a:solidFill>
          <a:ln w="50000">
            <a:solidFill>
              <a:srgbClr val="C00000"/>
            </a:solidFill>
          </a:ln>
        </p:spPr>
        <p:txBody>
          <a:bodyPr wrap="square" lIns="100000" tIns="800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1C1C"/>
                </a:solidFill>
                <a:latin typeface="Calibri" pitchFamily="34" charset="0"/>
              </a:rPr>
              <a:t>✗  Terraform complexity — a new TF module (module/jhbi-fi-tenant) required per FI project.
✗  More GCP projects to monitor — use GCP org folder + policy hierarchy to manage at scale.
✗  Cost within each FI project still needs job labels for per-FI API vs. pipeline split.
✗  FI onboarding takes Terraform apply time (~5-10 min vs. instant config change).
✗  Not needed for most FIs — overkill for portal-only or standard API tier customers.
✗  Risk of project sprawl if every FI gets one regardless of tier — set clear promotion criteria.
✗  GCP org quota: check project creation limits at scale (default 50 new projects/day — increase via quota request).</a:t>
            </a:r>
          </a:p>
        </p:txBody>
      </p:sp>
      <p:sp>
        <p:nvSpPr>
          <p:cNvPr id="10" name="ModuleHeader"/>
          <p:cNvSpPr/>
          <p:nvPr/>
        </p:nvSpPr>
        <p:spPr>
          <a:xfrm>
            <a:off x="8080000" y="780000"/>
            <a:ext cx="3800000" cy="30000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module/jhbi-fi-tenant</a:t>
            </a:r>
          </a:p>
        </p:txBody>
      </p:sp>
      <p:sp>
        <p:nvSpPr>
          <p:cNvPr id="11" name="ModuleCode"/>
          <p:cNvSpPr/>
          <p:nvPr/>
        </p:nvSpPr>
        <p:spPr>
          <a:xfrm>
            <a:off x="8080000" y="1200000"/>
            <a:ext cx="3800000" cy="2600000"/>
          </a:xfrm>
          <a:prstGeom prst="rect">
            <a:avLst/>
          </a:prstGeom>
          <a:solidFill>
            <a:srgbClr val="EBF3FB"/>
          </a:solidFill>
          <a:ln/>
        </p:spPr>
        <p:txBody>
          <a:bodyPr wrap="square" lIns="100000" tIns="800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</a:rPr>
              <a:t># Creates one FI's GCP project
module "fi_tenant" {
  fi_id        = var.fi_id
  fi_name      = var.fi_name
  tier         = var.tier
  billing_account = var.billing_account
}
# Provisions:
• GCP Project (jhbi-fi-{id}-prod)
• BQ Platinum dataset
• SA + RLS binding
• Budget alert ($X/month)
• Org policy: US-only regions
• CMEK key ring (per-FI)</a:t>
            </a:r>
          </a:p>
        </p:txBody>
      </p:sp>
      <p:sp>
        <p:nvSpPr>
          <p:cNvPr id="12" name="TriggerBox"/>
          <p:cNvSpPr/>
          <p:nvPr/>
        </p:nvSpPr>
        <p:spPr>
          <a:xfrm>
            <a:off x="8080000" y="3920000"/>
            <a:ext cx="3800000" cy="350000"/>
          </a:xfrm>
          <a:prstGeom prst="rect">
            <a:avLst/>
          </a:prstGeom>
          <a:solidFill>
            <a:srgbClr val="C55A1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Trigger: Enterprise contract, data residency clause, or &gt;$5K/mo FI volume</a:t>
            </a:r>
          </a:p>
        </p:txBody>
      </p:sp>
      <p:sp>
        <p:nvSpPr>
          <p:cNvPr id="13" name="OnboardingBox"/>
          <p:cNvSpPr/>
          <p:nvPr/>
        </p:nvSpPr>
        <p:spPr>
          <a:xfrm>
            <a:off x="8080000" y="4380000"/>
            <a:ext cx="3800000" cy="350000"/>
          </a:xfrm>
          <a:prstGeom prst="rect">
            <a:avLst/>
          </a:prstGeom>
          <a:solidFill>
            <a:srgbClr val="1E7A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>terraform apply -var fi_id=acme_bank → provisioned in ~8 min</a:t>
            </a:r>
          </a:p>
        </p:txBody>
      </p:sp>
      <p:sp>
        <p:nvSpPr>
          <p:cNvPr id="14" name="KeyPrincipleBox"/>
          <p:cNvSpPr/>
          <p:nvPr/>
        </p:nvSpPr>
        <p:spPr>
          <a:xfrm>
            <a:off x="320040" y="5400000"/>
            <a:ext cx="11500000" cy="9000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200000" tIns="1000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Key Principle: JHBI owns and manages all FI GCP projects. FIs never touch GCP. Access is via Portal SSO, API key, or JHBI-provisioned SA key — not GCP console. FI project promotion is a Terraform config change, not a re-engineering event.</a:t>
            </a:r>
          </a:p>
        </p:txBody>
      </p:sp>
      <p:sp>
        <p:nvSpPr>
          <p:cNvPr id="15" name="FooterBar"/>
          <p:cNvSpPr/>
          <p:nvPr/>
        </p:nvSpPr>
        <p:spPr>
          <a:xfrm>
            <a:off x="0" y="6566448"/>
            <a:ext cx="12192000" cy="2915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FooterText"/>
          <p:cNvSpPr/>
          <p:nvPr/>
        </p:nvSpPr>
        <p:spPr>
          <a:xfrm>
            <a:off x="320040" y="6590000"/>
            <a:ext cx="1143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</a:rPr>
              <a:t>Jack Henry Business Intelligence  |  GCP Project Topology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opBar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lideTitle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Legacy Migration — JHaKnow, ARCU &amp; Cognos Transition to JHBI</a:t>
            </a:r>
          </a:p>
        </p:txBody>
      </p:sp>
      <p:sp>
        <p:nvSpPr>
          <p:cNvPr id="5" name="SlideSubtitle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DC3E6"/>
                </a:solidFill>
                <a:latin typeface="Calibri" pitchFamily="34" charset="0"/>
              </a:rPr>
              <a:t>EC2030 initiative: ~700 JHaKnow/ARCU customers on-prem (SQL Server)  ·  ~400 Cognos customers</a:t>
            </a:r>
          </a:p>
        </p:txBody>
      </p:sp>
      <p:sp>
        <p:nvSpPr>
          <p:cNvPr id="6" name="OverviewBar"/>
          <p:cNvSpPr/>
          <p:nvPr/>
        </p:nvSpPr>
        <p:spPr>
          <a:xfrm>
            <a:off x="285040" y="788368"/>
            <a:ext cx="11500000" cy="361631"/>
          </a:xfrm>
          <a:prstGeom prst="rect">
            <a:avLst/>
          </a:prstGeom>
          <a:solidFill>
            <a:srgbClr val="EBF3FB"/>
          </a:solidFill>
          <a:ln/>
        </p:spPr>
        <p:txBody>
          <a:bodyPr wrap="square" lIns="200000" tIns="1500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</a:rPr>
              <a:t>EC2030 moves JHaKnow (bank-focused account &amp; reporting analytics, ~350 FIs) and ARCU (credit union-focused analytics, ~350 FIs) from on-prem SQL Server to JHBI cloud</a:t>
            </a:r>
          </a:p>
        </p:txBody>
      </p:sp>
      <p:sp>
        <p:nvSpPr>
          <p:cNvPr id="7" name="JHaKnowHeader"/>
          <p:cNvSpPr/>
          <p:nvPr/>
        </p:nvSpPr>
        <p:spPr>
          <a:xfrm>
            <a:off x="320040" y="1250000"/>
            <a:ext cx="3600000" cy="280000"/>
          </a:xfrm>
          <a:prstGeom prst="rect">
            <a:avLst/>
          </a:prstGeom>
          <a:solidFill>
            <a:srgbClr val="C55A1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JHaKnow</a:t>
            </a:r>
          </a:p>
        </p:txBody>
      </p:sp>
      <p:sp>
        <p:nvSpPr>
          <p:cNvPr id="8" name="JHaKnowCount"/>
          <p:cNvSpPr/>
          <p:nvPr/>
        </p:nvSpPr>
        <p:spPr>
          <a:xfrm>
            <a:off x="320040" y="1600000"/>
            <a:ext cx="3600000" cy="1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</a:rPr>
              <a:t>~350 customers · On-prem SQL Server</a:t>
            </a:r>
          </a:p>
        </p:txBody>
      </p:sp>
      <p:sp>
        <p:nvSpPr>
          <p:cNvPr id="9" name="JHaKnowPhase1"/>
          <p:cNvSpPr/>
          <p:nvPr/>
        </p:nvSpPr>
        <p:spPr>
          <a:xfrm>
            <a:off x="320040" y="1850000"/>
            <a:ext cx="3600000" cy="690000"/>
          </a:xfrm>
          <a:prstGeom prst="rect">
            <a:avLst/>
          </a:prstGeom>
          <a:solidFill>
            <a:srgbClr val="F5F7FB"/>
          </a:solidFill>
          <a:ln w="25000">
            <a:solidFill>
              <a:srgbClr val="CCCCCC"/>
            </a:solidFill>
          </a:ln>
        </p:spPr>
        <p:txBody>
          <a:bodyPr wrap="square" lIns="80000" tIns="600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</a:rPr>
              <a:t>Phase 1</a:t>
            </a:r>
            <a:br/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Assess: Catalog JHaKnow report inventory. Map SQL Server tables to JHBI Silver/Gold equivalents. Identify custom SQL that needs Dataform translation.</a:t>
            </a:r>
          </a:p>
        </p:txBody>
      </p:sp>
      <p:sp>
        <p:nvSpPr>
          <p:cNvPr id="10" name="JHaKnowPhase2"/>
          <p:cNvSpPr/>
          <p:nvPr/>
        </p:nvSpPr>
        <p:spPr>
          <a:xfrm>
            <a:off x="320040" y="2600000"/>
            <a:ext cx="3600000" cy="690000"/>
          </a:xfrm>
          <a:prstGeom prst="rect">
            <a:avLst/>
          </a:prstGeom>
          <a:solidFill>
            <a:srgbClr val="EBF3FB"/>
          </a:solidFill>
          <a:ln w="25000">
            <a:solidFill>
              <a:srgbClr val="CCCCCC"/>
            </a:solidFill>
          </a:ln>
        </p:spPr>
        <p:txBody>
          <a:bodyPr wrap="square" lIns="80000" tIns="600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</a:rPr>
              <a:t>Phase 2</a:t>
            </a:r>
            <a:br/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Extract: SSIS/BCP export from SQL Server → GCS staging bucket → BigQuery Bronze via batch load (real-time CDC connector not applicable for SQL Server 2012 or older).</a:t>
            </a:r>
          </a:p>
        </p:txBody>
      </p:sp>
      <p:sp>
        <p:nvSpPr>
          <p:cNvPr id="11" name="JHaKnowPhase3"/>
          <p:cNvSpPr/>
          <p:nvPr/>
        </p:nvSpPr>
        <p:spPr>
          <a:xfrm>
            <a:off x="320040" y="3350000"/>
            <a:ext cx="3600000" cy="690000"/>
          </a:xfrm>
          <a:prstGeom prst="rect">
            <a:avLst/>
          </a:prstGeom>
          <a:solidFill>
            <a:srgbClr val="F5F7FB"/>
          </a:solidFill>
          <a:ln w="25000">
            <a:solidFill>
              <a:srgbClr val="CCCCCC"/>
            </a:solidFill>
          </a:ln>
        </p:spPr>
        <p:txBody>
          <a:bodyPr wrap="square" lIns="80000" tIns="600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</a:rPr>
              <a:t>Phase 3</a:t>
            </a:r>
            <a:br/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Validate: Run parallel queries — JHaKnow vs. JHBI Gold — for 30-day shadow period. Sign off DQ parity &gt; 99.5%.</a:t>
            </a:r>
          </a:p>
        </p:txBody>
      </p:sp>
      <p:sp>
        <p:nvSpPr>
          <p:cNvPr id="12" name="JHaKnowPhase4"/>
          <p:cNvSpPr/>
          <p:nvPr/>
        </p:nvSpPr>
        <p:spPr>
          <a:xfrm>
            <a:off x="320040" y="4100000"/>
            <a:ext cx="3600000" cy="690000"/>
          </a:xfrm>
          <a:prstGeom prst="rect">
            <a:avLst/>
          </a:prstGeom>
          <a:solidFill>
            <a:srgbClr val="EBF3FB"/>
          </a:solidFill>
          <a:ln w="25000">
            <a:solidFill>
              <a:srgbClr val="CCCCCC"/>
            </a:solidFill>
          </a:ln>
        </p:spPr>
        <p:txBody>
          <a:bodyPr wrap="square" lIns="80000" tIns="600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</a:rPr>
              <a:t>Phase 4</a:t>
            </a:r>
            <a:br/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Cutover: FI portal redirects to JHBI portal backed by the FI's dedicated Platinum project (jhbi-fi-{name}-prod). Decommission JHaKnow SQL Server instance per FI post-validation.</a:t>
            </a:r>
          </a:p>
        </p:txBody>
      </p:sp>
      <p:sp>
        <p:nvSpPr>
          <p:cNvPr id="13" name="JHaKnowRisk"/>
          <p:cNvSpPr/>
          <p:nvPr/>
        </p:nvSpPr>
        <p:spPr>
          <a:xfrm>
            <a:off x="320040" y="4870000"/>
            <a:ext cx="3600000" cy="300000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lIns="50000" tIns="500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0000"/>
                </a:solidFill>
                <a:latin typeface="Calibri" pitchFamily="34" charset="0"/>
              </a:rPr>
              <a:t>Risk: SQL Server CDC requires real-time CDC connector or bulk extract path — validate per SQL Server version</a:t>
            </a:r>
          </a:p>
        </p:txBody>
      </p:sp>
      <p:sp>
        <p:nvSpPr>
          <p:cNvPr id="14" name="ARCUHeader"/>
          <p:cNvSpPr/>
          <p:nvPr/>
        </p:nvSpPr>
        <p:spPr>
          <a:xfrm>
            <a:off x="4200000" y="1250000"/>
            <a:ext cx="3600000" cy="2800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ARCU</a:t>
            </a:r>
          </a:p>
        </p:txBody>
      </p:sp>
      <p:sp>
        <p:nvSpPr>
          <p:cNvPr id="15" name="ARCUCount"/>
          <p:cNvSpPr/>
          <p:nvPr/>
        </p:nvSpPr>
        <p:spPr>
          <a:xfrm>
            <a:off x="4200000" y="1600000"/>
            <a:ext cx="3600000" cy="1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</a:rPr>
              <a:t>~350 customers · On-prem SQL Server</a:t>
            </a:r>
          </a:p>
        </p:txBody>
      </p:sp>
      <p:sp>
        <p:nvSpPr>
          <p:cNvPr id="16" name="ARCUPhase1"/>
          <p:cNvSpPr/>
          <p:nvPr/>
        </p:nvSpPr>
        <p:spPr>
          <a:xfrm>
            <a:off x="4200000" y="1850000"/>
            <a:ext cx="3600000" cy="690000"/>
          </a:xfrm>
          <a:prstGeom prst="rect">
            <a:avLst/>
          </a:prstGeom>
          <a:solidFill>
            <a:srgbClr val="F5F7FB"/>
          </a:solidFill>
          <a:ln w="25000">
            <a:solidFill>
              <a:srgbClr val="CCCCCC"/>
            </a:solidFill>
          </a:ln>
        </p:spPr>
        <p:txBody>
          <a:bodyPr wrap="square" lIns="80000" tIns="600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</a:rPr>
              <a:t>Phase 1</a:t>
            </a:r>
            <a:br/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Assess: ARCU uses similar SQL Server back-end. Map credit union-specific report templates to JHBI equivalent Gold views. Identify NCUA regulatory reporting requirements.</a:t>
            </a:r>
          </a:p>
        </p:txBody>
      </p:sp>
      <p:sp>
        <p:nvSpPr>
          <p:cNvPr id="17" name="ARCUPhase2"/>
          <p:cNvSpPr/>
          <p:nvPr/>
        </p:nvSpPr>
        <p:spPr>
          <a:xfrm>
            <a:off x="4200000" y="2600000"/>
            <a:ext cx="3600000" cy="690000"/>
          </a:xfrm>
          <a:prstGeom prst="rect">
            <a:avLst/>
          </a:prstGeom>
          <a:solidFill>
            <a:srgbClr val="EBF3FB"/>
          </a:solidFill>
          <a:ln w="25000">
            <a:solidFill>
              <a:srgbClr val="CCCCCC"/>
            </a:solidFill>
          </a:ln>
        </p:spPr>
        <p:txBody>
          <a:bodyPr wrap="square" lIns="80000" tIns="600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</a:rPr>
              <a:t>Phase 2</a:t>
            </a:r>
            <a:br/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Extract: Same extraction path as JHaKnow — bulk export via GCS. real-time CDC connector may support newer SQL Server versions (2019+) via SQL Server CDC.</a:t>
            </a:r>
          </a:p>
        </p:txBody>
      </p:sp>
      <p:sp>
        <p:nvSpPr>
          <p:cNvPr id="18" name="ARCUPhase3"/>
          <p:cNvSpPr/>
          <p:nvPr/>
        </p:nvSpPr>
        <p:spPr>
          <a:xfrm>
            <a:off x="4200000" y="3350000"/>
            <a:ext cx="3600000" cy="690000"/>
          </a:xfrm>
          <a:prstGeom prst="rect">
            <a:avLst/>
          </a:prstGeom>
          <a:solidFill>
            <a:srgbClr val="F5F7FB"/>
          </a:solidFill>
          <a:ln w="25000">
            <a:solidFill>
              <a:srgbClr val="CCCCCC"/>
            </a:solidFill>
          </a:ln>
        </p:spPr>
        <p:txBody>
          <a:bodyPr wrap="square" lIns="80000" tIns="600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</a:rPr>
              <a:t>Phase 3</a:t>
            </a:r>
            <a:br/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Validate: Credit union-specific fields (share drafts, member numbers) validated against BIAN Silver schema. DQ threshold ≥ 99.5%.</a:t>
            </a:r>
          </a:p>
        </p:txBody>
      </p:sp>
      <p:sp>
        <p:nvSpPr>
          <p:cNvPr id="19" name="ARCUPhase4"/>
          <p:cNvSpPr/>
          <p:nvPr/>
        </p:nvSpPr>
        <p:spPr>
          <a:xfrm>
            <a:off x="4200000" y="4100000"/>
            <a:ext cx="3600000" cy="690000"/>
          </a:xfrm>
          <a:prstGeom prst="rect">
            <a:avLst/>
          </a:prstGeom>
          <a:solidFill>
            <a:srgbClr val="EBF3FB"/>
          </a:solidFill>
          <a:ln w="25000">
            <a:solidFill>
              <a:srgbClr val="CCCCCC"/>
            </a:solidFill>
          </a:ln>
        </p:spPr>
        <p:txBody>
          <a:bodyPr wrap="square" lIns="80000" tIns="600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</a:rPr>
              <a:t>Phase 4</a:t>
            </a:r>
            <a:br/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Cutover: ARCU FIs migrate after JHaKnow wave — lower risk given shared SQL Server extraction path. Each credit union FI lands in its own Platinum project. NCUA report templates rebuilt in Power BI against JHBI Gold via cross-project views.</a:t>
            </a:r>
          </a:p>
        </p:txBody>
      </p:sp>
      <p:sp>
        <p:nvSpPr>
          <p:cNvPr id="20" name="ARCURisk"/>
          <p:cNvSpPr/>
          <p:nvPr/>
        </p:nvSpPr>
        <p:spPr>
          <a:xfrm>
            <a:off x="4200000" y="4870000"/>
            <a:ext cx="3600000" cy="300000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lIns="50000" tIns="500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0000"/>
                </a:solidFill>
                <a:latin typeface="Calibri" pitchFamily="34" charset="0"/>
              </a:rPr>
              <a:t>Risk: Credit union regulatory reports (5300 Call Report) need explicit mapping to JHBI Gold schema — plan for custom Dataform models</a:t>
            </a:r>
          </a:p>
        </p:txBody>
      </p:sp>
      <p:sp>
        <p:nvSpPr>
          <p:cNvPr id="21" name="CognosHeader"/>
          <p:cNvSpPr/>
          <p:nvPr/>
        </p:nvSpPr>
        <p:spPr>
          <a:xfrm>
            <a:off x="8080000" y="1250000"/>
            <a:ext cx="3800000" cy="28000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Cognos</a:t>
            </a:r>
          </a:p>
        </p:txBody>
      </p:sp>
      <p:sp>
        <p:nvSpPr>
          <p:cNvPr id="22" name="CognosCount"/>
          <p:cNvSpPr/>
          <p:nvPr/>
        </p:nvSpPr>
        <p:spPr>
          <a:xfrm>
            <a:off x="8080000" y="1600000"/>
            <a:ext cx="3800000" cy="1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</a:rPr>
              <a:t>~400 customers · Split connectivity</a:t>
            </a:r>
          </a:p>
        </p:txBody>
      </p:sp>
      <p:sp>
        <p:nvSpPr>
          <p:cNvPr id="23" name="CognosSplit"/>
          <p:cNvSpPr/>
          <p:nvPr/>
        </p:nvSpPr>
        <p:spPr>
          <a:xfrm>
            <a:off x="8080000" y="1800000"/>
            <a:ext cx="3800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</a:rPr>
              <a:t>200 FIs → JHaKnow backend | 200 FIs → Direct to Cores/Other Systems</a:t>
            </a:r>
          </a:p>
        </p:txBody>
      </p:sp>
      <p:sp>
        <p:nvSpPr>
          <p:cNvPr id="24" name="CognosPath"/>
          <p:cNvSpPr/>
          <p:nvPr/>
        </p:nvSpPr>
        <p:spPr>
          <a:xfrm>
            <a:off x="8080000" y="2398240"/>
            <a:ext cx="3800000" cy="2391760"/>
          </a:xfrm>
          <a:prstGeom prst="rect">
            <a:avLst/>
          </a:prstGeom>
          <a:solidFill>
            <a:srgbClr val="EBF3FB"/>
          </a:solidFill>
          <a:ln/>
        </p:spPr>
        <p:txBody>
          <a:bodyPr wrap="square" lIns="80000" tIns="6000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</a:rPr>
              <a:t>Cognos → JHaKnow customers: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Migrate JHaKnow first (Stream 1), then redirect Cognos reports to JHBI Power BI. Cognos license can be retired per FI post-cutover.
</a:t>
            </a:r>
            <a:r>
              <a:rPr lang="en-US" sz="1050" b="1" dirty="0">
                <a:solidFill>
                  <a:srgbClr val="1F4E79"/>
                </a:solidFill>
                <a:latin typeface="Calibri" pitchFamily="34" charset="0"/>
              </a:rPr>
              <a:t>Cognos → Core/Direct customers: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More complex. These FIs have Cognos pulling from Jack Henry cores (SilverLake, Symitar) directly. Migration path: (1) Onboard core CDC feeds to JHBI Bronze, (2) rebuild Cognos reports in Power BI against JHBI Gold, (3) retire Cognos.</a:t>
            </a:r>
          </a:p>
        </p:txBody>
      </p:sp>
      <p:sp>
        <p:nvSpPr>
          <p:cNvPr id="25" name="CognosRisk"/>
          <p:cNvSpPr/>
          <p:nvPr/>
        </p:nvSpPr>
        <p:spPr>
          <a:xfrm>
            <a:off x="8080000" y="4870000"/>
            <a:ext cx="3800000" cy="300000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lIns="50000" tIns="500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0000"/>
                </a:solidFill>
                <a:latin typeface="Calibri" pitchFamily="34" charset="0"/>
              </a:rPr>
              <a:t>Risk: Direct-to-core Cognos FIs require new real-time CDC connectors for SilverLake/Symitar — timeline dependency on connector availability</a:t>
            </a:r>
          </a:p>
        </p:txBody>
      </p:sp>
      <p:sp>
        <p:nvSpPr>
          <p:cNvPr id="26" name="TimelineBar"/>
          <p:cNvSpPr/>
          <p:nvPr/>
        </p:nvSpPr>
        <p:spPr>
          <a:xfrm>
            <a:off x="320040" y="5300000"/>
            <a:ext cx="11500000" cy="9000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200000" tIns="1000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Illustrative timeline: Wave 1: JHaKnow migration — 350 FIs (banks). Wave 2: ARCU migration — 350 FIs (credit unions). Wave 3: Cognos retirement — 400 FIs. Actual dates TBD based on EC2030 program schedule. Each FI migration: Terraform Platinum project provisioning + 30-day shadow validation before portal cutover. Note: GCP project creation quota (default 50/day) should be raised via quota request before Wave 1 starts.</a:t>
            </a:r>
          </a:p>
        </p:txBody>
      </p:sp>
      <p:sp>
        <p:nvSpPr>
          <p:cNvPr id="27" name="FooterBar"/>
          <p:cNvSpPr/>
          <p:nvPr/>
        </p:nvSpPr>
        <p:spPr>
          <a:xfrm>
            <a:off x="0" y="6566448"/>
            <a:ext cx="12192000" cy="2915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FooterText"/>
          <p:cNvSpPr/>
          <p:nvPr/>
        </p:nvSpPr>
        <p:spPr>
          <a:xfrm>
            <a:off x="320040" y="6590000"/>
            <a:ext cx="1143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</a:rPr>
              <a:t>Jack Henry Business Intelligence  |  GCP Project Topology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LeftBar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RightAccent"/>
          <p:cNvSpPr/>
          <p:nvPr/>
        </p:nvSpPr>
        <p:spPr>
          <a:xfrm>
            <a:off x="9509760" y="1600000"/>
            <a:ext cx="2286000" cy="109728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tle1"/>
          <p:cNvSpPr/>
          <p:nvPr/>
        </p:nvSpPr>
        <p:spPr>
          <a:xfrm>
            <a:off x="502920" y="1500000"/>
            <a:ext cx="800000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</a:t>
            </a:r>
            <a:endParaRPr lang="en-US" sz="3600" dirty="0"/>
          </a:p>
        </p:txBody>
      </p:sp>
      <p:sp>
        <p:nvSpPr>
          <p:cNvPr id="6" name="Title2"/>
          <p:cNvSpPr/>
          <p:nvPr/>
        </p:nvSpPr>
        <p:spPr>
          <a:xfrm>
            <a:off x="502920" y="2200000"/>
            <a:ext cx="800000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3600" dirty="0"/>
          </a:p>
        </p:txBody>
      </p:sp>
      <p:sp>
        <p:nvSpPr>
          <p:cNvPr id="7" name="AccentLine"/>
          <p:cNvSpPr/>
          <p:nvPr/>
        </p:nvSpPr>
        <p:spPr>
          <a:xfrm>
            <a:off x="502920" y="3050000"/>
            <a:ext cx="6400800" cy="274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ubtitleStandards"/>
          <p:cNvSpPr/>
          <p:nvPr/>
        </p:nvSpPr>
        <p:spPr>
          <a:xfrm>
            <a:off x="502920" y="3150000"/>
            <a:ext cx="8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· GLBA · SOC 2 · NACHA · FFIEC · CCPA · FedRAMP · NIST CSF</a:t>
            </a:r>
            <a:endParaRPr lang="en-US" sz="1600" dirty="0"/>
          </a:p>
        </p:txBody>
      </p:sp>
      <p:sp>
        <p:nvSpPr>
          <p:cNvPr id="9" name="SubtitleStrategy"/>
          <p:cNvSpPr/>
          <p:nvPr/>
        </p:nvSpPr>
        <p:spPr>
          <a:xfrm>
            <a:off x="502920" y="3650000"/>
            <a:ext cx="80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project isolation (Platinum) satisfies all regulatory frameworks</a:t>
            </a:r>
            <a:endParaRPr lang="en-US" sz="1300" dirty="0"/>
          </a:p>
        </p:txBody>
      </p:sp>
      <p:sp>
        <p:nvSpPr>
          <p:cNvPr id="10" name="BoxTitle"/>
          <p:cNvSpPr/>
          <p:nvPr/>
        </p:nvSpPr>
        <p:spPr>
          <a:xfrm>
            <a:off x="9509760" y="1800000"/>
            <a:ext cx="2286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11" name="BoxSubtitle"/>
          <p:cNvSpPr/>
          <p:nvPr/>
        </p:nvSpPr>
        <p:spPr>
          <a:xfrm>
            <a:off x="9509760" y="2200000"/>
            <a:ext cx="2286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liance Regulations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opBar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lideTitle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Compliance &amp; Regulatory Requirements — What JHBI Must Address</a:t>
            </a:r>
          </a:p>
        </p:txBody>
      </p:sp>
      <p:sp>
        <p:nvSpPr>
          <p:cNvPr id="5" name="SlideSubtitle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DC3E6"/>
                </a:solidFill>
                <a:latin typeface="Calibri" pitchFamily="34" charset="0"/>
              </a:rPr>
              <a:t>Option B (dedicated JHBI project hierarchy + per-FI Platinum) provides the cleanest compliance boundary</a:t>
            </a:r>
          </a:p>
        </p:txBody>
      </p:sp>
      <p:sp>
        <p:nvSpPr>
          <p:cNvPr id="10" name="Reg1Label"/>
          <p:cNvSpPr/>
          <p:nvPr/>
        </p:nvSpPr>
        <p:spPr>
          <a:xfrm>
            <a:off x="230000" y="740000"/>
            <a:ext cx="2000000" cy="5800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0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PCI DSS v4.0</a:t>
            </a:r>
          </a:p>
        </p:txBody>
      </p:sp>
      <p:sp>
        <p:nvSpPr>
          <p:cNvPr id="11" name="Reg1Content"/>
          <p:cNvSpPr/>
          <p:nvPr/>
        </p:nvSpPr>
        <p:spPr>
          <a:xfrm>
            <a:off x="2330000" y="740000"/>
            <a:ext cx="9600000" cy="580000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txBody>
          <a:bodyPr wrap="square" lIns="150000" tIns="60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</a:rPr>
              <a:t>Cardholder data isolation: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</a:rPr>
              <a:t>FI card transaction data must be scoped to a dedicated GCP project. Cross-FI shared projects create CDE scope expansion. Platinum project-per-FI satisfies network segmentation Req. 1 and access control Req. 7.</a:t>
            </a:r>
          </a:p>
        </p:txBody>
      </p:sp>
      <p:sp>
        <p:nvSpPr>
          <p:cNvPr id="12" name="Reg2Label"/>
          <p:cNvSpPr/>
          <p:nvPr/>
        </p:nvSpPr>
        <p:spPr>
          <a:xfrm>
            <a:off x="230000" y="1360000"/>
            <a:ext cx="2000000" cy="580000"/>
          </a:xfrm>
          <a:prstGeom prst="rect">
            <a:avLst/>
          </a:prstGeom>
          <a:solidFill>
            <a:srgbClr val="C55A11"/>
          </a:solidFill>
          <a:ln/>
        </p:spPr>
        <p:txBody>
          <a:bodyPr wrap="square" lIns="10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GLBA Safeguards</a:t>
            </a:r>
          </a:p>
        </p:txBody>
      </p:sp>
      <p:sp>
        <p:nvSpPr>
          <p:cNvPr id="13" name="Reg2Content"/>
          <p:cNvSpPr/>
          <p:nvPr/>
        </p:nvSpPr>
        <p:spPr>
          <a:xfrm>
            <a:off x="2330000" y="1360000"/>
            <a:ext cx="96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150000" tIns="60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55A11"/>
                </a:solidFill>
                <a:latin typeface="Calibri" pitchFamily="34" charset="0"/>
              </a:rPr>
              <a:t>FI customer NPI protection: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</a:rPr>
              <a:t>Non-public personal information must not co-mingle across FIs. Safeguards Rule requires access controls scoped per financial institution. Shared project = shared access boundary = GLBA violation risk.</a:t>
            </a:r>
          </a:p>
        </p:txBody>
      </p:sp>
      <p:sp>
        <p:nvSpPr>
          <p:cNvPr id="14" name="Reg3Label"/>
          <p:cNvSpPr/>
          <p:nvPr/>
        </p:nvSpPr>
        <p:spPr>
          <a:xfrm>
            <a:off x="230000" y="1980000"/>
            <a:ext cx="2000000" cy="580000"/>
          </a:xfrm>
          <a:prstGeom prst="rect">
            <a:avLst/>
          </a:prstGeom>
          <a:solidFill>
            <a:srgbClr val="1E7A4A"/>
          </a:solidFill>
          <a:ln/>
        </p:spPr>
        <p:txBody>
          <a:bodyPr wrap="square" lIns="10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SOC 2 Type II</a:t>
            </a:r>
          </a:p>
        </p:txBody>
      </p:sp>
      <p:sp>
        <p:nvSpPr>
          <p:cNvPr id="15" name="Reg3Content"/>
          <p:cNvSpPr/>
          <p:nvPr/>
        </p:nvSpPr>
        <p:spPr>
          <a:xfrm>
            <a:off x="2330000" y="1980000"/>
            <a:ext cx="9600000" cy="580000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txBody>
          <a:bodyPr wrap="square" lIns="150000" tIns="60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7A4A"/>
                </a:solidFill>
                <a:latin typeface="Calibri" pitchFamily="34" charset="0"/>
              </a:rPr>
              <a:t>Logical access control audit: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</a:rPr>
              <a:t>SOC 2 CC6 requires demonstrable access controls per customer tenant. Per-FI GCP project IAM policies provide clean, auditable proof. Shared projects require complex IAM condition audits that increase audit scope and risk of finding.</a:t>
            </a:r>
          </a:p>
        </p:txBody>
      </p:sp>
      <p:sp>
        <p:nvSpPr>
          <p:cNvPr id="16" name="Reg4Label"/>
          <p:cNvSpPr/>
          <p:nvPr/>
        </p:nvSpPr>
        <p:spPr>
          <a:xfrm>
            <a:off x="230000" y="2600000"/>
            <a:ext cx="2000000" cy="58000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lIns="10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NACHA / ACH</a:t>
            </a:r>
          </a:p>
        </p:txBody>
      </p:sp>
      <p:sp>
        <p:nvSpPr>
          <p:cNvPr id="17" name="Reg4Content"/>
          <p:cNvSpPr/>
          <p:nvPr/>
        </p:nvSpPr>
        <p:spPr>
          <a:xfrm>
            <a:off x="2330000" y="2600000"/>
            <a:ext cx="96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150000" tIns="60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</a:rPr>
              <a:t>ACH transaction data residency: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</a:rPr>
              <a:t>NACHA Operating Rules require third-party processors to maintain data security controls equivalent to an ODFI/RDFI. Routing/account number data in shared BQ datasets without project-level isolation violates data handling obligations under Rule 1.6.</a:t>
            </a:r>
          </a:p>
        </p:txBody>
      </p:sp>
      <p:sp>
        <p:nvSpPr>
          <p:cNvPr id="18" name="Reg5Label"/>
          <p:cNvSpPr/>
          <p:nvPr/>
        </p:nvSpPr>
        <p:spPr>
          <a:xfrm>
            <a:off x="230000" y="3220000"/>
            <a:ext cx="2000000" cy="580000"/>
          </a:xfrm>
          <a:prstGeom prst="rect">
            <a:avLst/>
          </a:prstGeom>
          <a:solidFill>
            <a:srgbClr val="7030A0"/>
          </a:solidFill>
          <a:ln/>
        </p:spPr>
        <p:txBody>
          <a:bodyPr wrap="square" lIns="10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FFIEC IT Exam</a:t>
            </a:r>
          </a:p>
        </p:txBody>
      </p:sp>
      <p:sp>
        <p:nvSpPr>
          <p:cNvPr id="19" name="Reg5Content"/>
          <p:cNvSpPr/>
          <p:nvPr/>
        </p:nvSpPr>
        <p:spPr>
          <a:xfrm>
            <a:off x="2330000" y="3220000"/>
            <a:ext cx="9600000" cy="580000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txBody>
          <a:bodyPr wrap="square" lIns="150000" tIns="60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030A0"/>
                </a:solidFill>
                <a:latin typeface="Calibri" pitchFamily="34" charset="0"/>
              </a:rPr>
              <a:t>Third-party cloud vendor management: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</a:rPr>
              <a:t>FFIEC examiners expect FIs to demonstrate that their cloud provider maintains logical separation between tenants. JHBI must provide GCP project-level isolation evidence to examiners — not just IAM policy assertions within a shared project.</a:t>
            </a:r>
          </a:p>
        </p:txBody>
      </p:sp>
      <p:sp>
        <p:nvSpPr>
          <p:cNvPr id="20" name="Reg6Label"/>
          <p:cNvSpPr/>
          <p:nvPr/>
        </p:nvSpPr>
        <p:spPr>
          <a:xfrm>
            <a:off x="230000" y="3840000"/>
            <a:ext cx="2000000" cy="580000"/>
          </a:xfrm>
          <a:prstGeom prst="rect">
            <a:avLst/>
          </a:prstGeom>
          <a:solidFill>
            <a:srgbClr val="843C0C"/>
          </a:solidFill>
          <a:ln/>
        </p:spPr>
        <p:txBody>
          <a:bodyPr wrap="square" lIns="10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BSA / AML</a:t>
            </a:r>
          </a:p>
        </p:txBody>
      </p:sp>
      <p:sp>
        <p:nvSpPr>
          <p:cNvPr id="21" name="Reg6Content"/>
          <p:cNvSpPr/>
          <p:nvPr/>
        </p:nvSpPr>
        <p:spPr>
          <a:xfrm>
            <a:off x="2330000" y="3840000"/>
            <a:ext cx="96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150000" tIns="60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43C0C"/>
                </a:solidFill>
                <a:latin typeface="Calibri" pitchFamily="34" charset="0"/>
              </a:rPr>
              <a:t>Suspicious activity data segregation: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</a:rPr>
              <a:t>SAR and CTR data must not be accessible across FI boundaries. FinCEN confidentiality requirements make cross-FI data co-mingling a regulatory violation. Platinum project ensures no FI can query another FI’s AML analytics.</a:t>
            </a:r>
          </a:p>
        </p:txBody>
      </p:sp>
      <p:sp>
        <p:nvSpPr>
          <p:cNvPr id="22" name="Reg7Label"/>
          <p:cNvSpPr/>
          <p:nvPr/>
        </p:nvSpPr>
        <p:spPr>
          <a:xfrm>
            <a:off x="230000" y="4460000"/>
            <a:ext cx="2000000" cy="580000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10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CCPA / State Privacy</a:t>
            </a:r>
          </a:p>
        </p:txBody>
      </p:sp>
      <p:sp>
        <p:nvSpPr>
          <p:cNvPr id="23" name="Reg7Content"/>
          <p:cNvSpPr/>
          <p:nvPr/>
        </p:nvSpPr>
        <p:spPr>
          <a:xfrm>
            <a:off x="2330000" y="4460000"/>
            <a:ext cx="9600000" cy="580000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txBody>
          <a:bodyPr wrap="square" lIns="150000" tIns="60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04040"/>
                </a:solidFill>
                <a:latin typeface="Calibri" pitchFamily="34" charset="0"/>
              </a:rPr>
              <a:t>Consumer right-to-erasure: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</a:rPr>
              <a:t>CCPA and emerging state privacy laws require data subject deletion requests to be fulfilled per institution. Shared BQ datasets increase complexity of  per-FI deletion. Platinum project boundaries enable clean BigQuery dataset-level deletion scoped to one FI.</a:t>
            </a:r>
          </a:p>
        </p:txBody>
      </p:sp>
      <p:sp>
        <p:nvSpPr>
          <p:cNvPr id="24" name="Reg8Label"/>
          <p:cNvSpPr/>
          <p:nvPr/>
        </p:nvSpPr>
        <p:spPr>
          <a:xfrm>
            <a:off x="230000" y="5080000"/>
            <a:ext cx="2000000" cy="5800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100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NIST CSF / FedRAMP</a:t>
            </a:r>
          </a:p>
        </p:txBody>
      </p:sp>
      <p:sp>
        <p:nvSpPr>
          <p:cNvPr id="25" name="Reg8Content"/>
          <p:cNvSpPr/>
          <p:nvPr/>
        </p:nvSpPr>
        <p:spPr>
          <a:xfrm>
            <a:off x="2330000" y="5080000"/>
            <a:ext cx="9600000" cy="5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150000" tIns="600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</a:rPr>
              <a:t>Access control &amp; least-privilege baseline: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</a:rPr>
              <a:t>NIST CSF PR.AC and FedRAMP AC controls require least-privilege access tied to specific data scope. GCP project-level IAM is the native enforcement boundary. Enforcing least-privilege in a shared project requires complex VPC-SC / IAM Conditions that add operational risk.</a:t>
            </a:r>
          </a:p>
        </p:txBody>
      </p:sp>
      <p:sp>
        <p:nvSpPr>
          <p:cNvPr id="30" name="SummaryBar"/>
          <p:cNvSpPr/>
          <p:nvPr/>
        </p:nvSpPr>
        <p:spPr>
          <a:xfrm>
            <a:off x="230000" y="5750000"/>
            <a:ext cx="11700000" cy="620000"/>
          </a:xfrm>
          <a:prstGeom prst="rect">
            <a:avLst/>
          </a:prstGeom>
          <a:solidFill>
            <a:srgbClr val="1E7A4A"/>
          </a:solidFill>
          <a:ln/>
        </p:spPr>
        <p:txBody>
          <a:bodyPr wrap="square" lIns="300000" tIns="800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Compliance Posture: </a:t>
            </a:r>
            <a:r>
              <a:rPr lang="en-US" sz="1200" dirty="0">
                <a:solidFill>
                  <a:srgbClr val="D9F0E5"/>
                </a:solidFill>
                <a:latin typeface="Calibri" pitchFamily="34" charset="0"/>
              </a:rPr>
              <a:t>Per-FI Platinum GCP project provides a single auditable isolation boundary that satisfies PCI DSS, GLBA, SOC 2, NACHA, FFIEC, BSA/AML, CCPA, and NIST simultaneously.</a:t>
            </a:r>
          </a:p>
        </p:txBody>
      </p:sp>
      <p:sp>
        <p:nvSpPr>
          <p:cNvPr id="31" name="FooterBar"/>
          <p:cNvSpPr/>
          <p:nvPr/>
        </p:nvSpPr>
        <p:spPr>
          <a:xfrm>
            <a:off x="0" y="6566448"/>
            <a:ext cx="12192000" cy="2915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FooterText"/>
          <p:cNvSpPr/>
          <p:nvPr/>
        </p:nvSpPr>
        <p:spPr>
          <a:xfrm>
            <a:off x="320040" y="6590000"/>
            <a:ext cx="1143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</a:rPr>
              <a:t>JHBI Platform Architecture · Confidential — Jack Henry &amp; Associates Internal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NavBar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Services Architecture — Key Services by Layer</a:t>
            </a:r>
            <a:endParaRPr lang="en-US" sz="2000" dirty="0"/>
          </a:p>
        </p:txBody>
      </p:sp>
      <p:sp>
        <p:nvSpPr>
          <p:cNvPr id="5" name="Subtitle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selected for JHBI  ·  Pros/cons and architectural rationale for engineering review</a:t>
            </a:r>
            <a:endParaRPr lang="en-US" sz="1400" dirty="0"/>
          </a:p>
        </p:txBody>
      </p:sp>
      <p:sp>
        <p:nvSpPr>
          <p:cNvPr id="6" name="IngestionLabel"/>
          <p:cNvSpPr/>
          <p:nvPr/>
        </p:nvSpPr>
        <p:spPr>
          <a:xfrm>
            <a:off x="320040" y="780000"/>
            <a:ext cx="1800000" cy="560000"/>
          </a:xfrm>
          <a:prstGeom prst="rect">
            <a:avLst/>
          </a:prstGeom>
          <a:solidFill>
            <a:srgbClr val="C55A1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INGESTION</a:t>
            </a:r>
          </a:p>
        </p:txBody>
      </p:sp>
      <p:sp>
        <p:nvSpPr>
          <p:cNvPr id="7" name="IngestionServices"/>
          <p:cNvSpPr/>
          <p:nvPr/>
        </p:nvSpPr>
        <p:spPr>
          <a:xfrm>
            <a:off x="2200000" y="780000"/>
            <a:ext cx="4600000" cy="560000"/>
          </a:xfrm>
          <a:prstGeom prst="rect">
            <a:avLst/>
          </a:prstGeom>
          <a:solidFill>
            <a:srgbClr val="FFF5F0"/>
          </a:solidFill>
          <a:ln/>
        </p:spPr>
        <p:txBody>
          <a:bodyPr wrap="square" lIns="100000" tIns="50000" rIns="100000" bIns="500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real-time CDC connector (CDC)  •  Pub/Sub  •  Dataflow  •  Cloud KMS</a:t>
            </a:r>
          </a:p>
        </p:txBody>
      </p:sp>
      <p:sp>
        <p:nvSpPr>
          <p:cNvPr id="8" name="IngestionProsCons"/>
          <p:cNvSpPr/>
          <p:nvPr/>
        </p:nvSpPr>
        <p:spPr>
          <a:xfrm>
            <a:off x="7000000" y="780000"/>
            <a:ext cx="4800000" cy="560000"/>
          </a:xfrm>
          <a:prstGeom prst="rect">
            <a:avLst/>
          </a:prstGeom>
          <a:solidFill>
            <a:srgbClr val="FFF5F0"/>
          </a:solidFill>
          <a:ln/>
        </p:spPr>
        <p:txBody>
          <a:bodyPr wrap="square" lIns="100000" tIns="50000" rIns="100000" bIns="500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✓ Managed CDC  ✓ Pub/Sub scales millions/sec  ✓ Dataflow auto-scales  ✗ SQL Server requires bulk extract (SSIS/BCP) — CDC connector is source-dependent</a:t>
            </a:r>
          </a:p>
        </p:txBody>
      </p:sp>
      <p:sp>
        <p:nvSpPr>
          <p:cNvPr id="9" name="DataLakeLabel"/>
          <p:cNvSpPr/>
          <p:nvPr/>
        </p:nvSpPr>
        <p:spPr>
          <a:xfrm>
            <a:off x="320040" y="1380000"/>
            <a:ext cx="1800000" cy="56000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DATA LAKE</a:t>
            </a:r>
          </a:p>
        </p:txBody>
      </p:sp>
      <p:sp>
        <p:nvSpPr>
          <p:cNvPr id="10" name="DataLakeServices"/>
          <p:cNvSpPr/>
          <p:nvPr/>
        </p:nvSpPr>
        <p:spPr>
          <a:xfrm>
            <a:off x="2200000" y="1380000"/>
            <a:ext cx="4600000" cy="560000"/>
          </a:xfrm>
          <a:prstGeom prst="rect">
            <a:avLst/>
          </a:prstGeom>
          <a:solidFill>
            <a:srgbClr val="F0F4FB"/>
          </a:solidFill>
          <a:ln/>
        </p:spPr>
        <p:txBody>
          <a:bodyPr wrap="square" lIns="100000" tIns="50000" rIns="100000" bIns="500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BigQuery  •  Dataplex  •  BI Engine  •  Analytics Hub</a:t>
            </a:r>
          </a:p>
        </p:txBody>
      </p:sp>
      <p:sp>
        <p:nvSpPr>
          <p:cNvPr id="11" name="DataLakeProsCons"/>
          <p:cNvSpPr/>
          <p:nvPr/>
        </p:nvSpPr>
        <p:spPr>
          <a:xfrm>
            <a:off x="7000000" y="1380000"/>
            <a:ext cx="4800000" cy="560000"/>
          </a:xfrm>
          <a:prstGeom prst="rect">
            <a:avLst/>
          </a:prstGeom>
          <a:solidFill>
            <a:srgbClr val="F0F4FB"/>
          </a:solidFill>
          <a:ln/>
        </p:spPr>
        <p:txBody>
          <a:bodyPr wrap="square" lIns="100000" tIns="50000" rIns="100000" bIns="500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✓ Serverless  ✓ Native RLS/column security  ✓ BI Engine sub-second  ✗ Slot contention needs reservations</a:t>
            </a:r>
          </a:p>
        </p:txBody>
      </p:sp>
      <p:sp>
        <p:nvSpPr>
          <p:cNvPr id="12" name="EntityLabel"/>
          <p:cNvSpPr/>
          <p:nvPr/>
        </p:nvSpPr>
        <p:spPr>
          <a:xfrm>
            <a:off x="320040" y="1980000"/>
            <a:ext cx="1800000" cy="56000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ENTITY RES.</a:t>
            </a:r>
          </a:p>
        </p:txBody>
      </p:sp>
      <p:sp>
        <p:nvSpPr>
          <p:cNvPr id="13" name="EntityServices"/>
          <p:cNvSpPr/>
          <p:nvPr/>
        </p:nvSpPr>
        <p:spPr>
          <a:xfrm>
            <a:off x="2200000" y="1980000"/>
            <a:ext cx="4600000" cy="560000"/>
          </a:xfrm>
          <a:prstGeom prst="rect">
            <a:avLst/>
          </a:prstGeom>
          <a:solidFill>
            <a:srgbClr val="F0F5FF"/>
          </a:solidFill>
          <a:ln/>
        </p:spPr>
        <p:txBody>
          <a:bodyPr wrap="square" lIns="100000" tIns="50000" rIns="100000" bIns="500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Entity Resolution Service (Spaner +)  •  BigQuery ML  •  Dataform</a:t>
            </a:r>
          </a:p>
        </p:txBody>
      </p:sp>
      <p:sp>
        <p:nvSpPr>
          <p:cNvPr id="14" name="EntityProsCons"/>
          <p:cNvSpPr/>
          <p:nvPr/>
        </p:nvSpPr>
        <p:spPr>
          <a:xfrm>
            <a:off x="7000000" y="1980000"/>
            <a:ext cx="4800000" cy="560000"/>
          </a:xfrm>
          <a:prstGeom prst="rect">
            <a:avLst/>
          </a:prstGeom>
          <a:solidFill>
            <a:srgbClr val="F0F5FF"/>
          </a:solidFill>
          <a:ln/>
        </p:spPr>
        <p:txBody>
          <a:bodyPr wrap="square" lIns="100000" tIns="50000" rIns="100000" bIns="500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✓ Custom block-and-rule design — tailored to JHA data  ✓ No third-party dependency or licensing  ✗ In-house maintenance burden vs. managed service</a:t>
            </a:r>
          </a:p>
        </p:txBody>
      </p:sp>
      <p:sp>
        <p:nvSpPr>
          <p:cNvPr id="15" name="OrchestrationLabel"/>
          <p:cNvSpPr/>
          <p:nvPr/>
        </p:nvSpPr>
        <p:spPr>
          <a:xfrm>
            <a:off x="320040" y="2580000"/>
            <a:ext cx="1800000" cy="560000"/>
          </a:xfrm>
          <a:prstGeom prst="rect">
            <a:avLst/>
          </a:prstGeom>
          <a:solidFill>
            <a:srgbClr val="1E7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ORCHESTRATION</a:t>
            </a:r>
          </a:p>
        </p:txBody>
      </p:sp>
      <p:sp>
        <p:nvSpPr>
          <p:cNvPr id="16" name="OrchestrationServices"/>
          <p:cNvSpPr/>
          <p:nvPr/>
        </p:nvSpPr>
        <p:spPr>
          <a:xfrm>
            <a:off x="2200000" y="2580000"/>
            <a:ext cx="4600000" cy="560000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lIns="100000" tIns="50000" rIns="100000" bIns="500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Cloud Composer (Airflow)  •  Dataform  •  Cloud Build</a:t>
            </a:r>
          </a:p>
        </p:txBody>
      </p:sp>
      <p:sp>
        <p:nvSpPr>
          <p:cNvPr id="17" name="OrchestrationProsCons"/>
          <p:cNvSpPr/>
          <p:nvPr/>
        </p:nvSpPr>
        <p:spPr>
          <a:xfrm>
            <a:off x="7000000" y="2580000"/>
            <a:ext cx="4800000" cy="560000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lIns="100000" tIns="50000" rIns="100000" bIns="500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✓ Composer Autopilot: zero node ops  ✓ Dataform: Git-versioned  ✗ Composer: 15-20min cold start</a:t>
            </a:r>
          </a:p>
        </p:txBody>
      </p:sp>
      <p:sp>
        <p:nvSpPr>
          <p:cNvPr id="18" name="ServingLabel"/>
          <p:cNvSpPr/>
          <p:nvPr/>
        </p:nvSpPr>
        <p:spPr>
          <a:xfrm>
            <a:off x="320040" y="3180000"/>
            <a:ext cx="1800000" cy="560000"/>
          </a:xfrm>
          <a:prstGeom prst="rect">
            <a:avLst/>
          </a:prstGeom>
          <a:solidFill>
            <a:srgbClr val="C55A1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SERVING</a:t>
            </a:r>
          </a:p>
        </p:txBody>
      </p:sp>
      <p:sp>
        <p:nvSpPr>
          <p:cNvPr id="19" name="ServingServices"/>
          <p:cNvSpPr/>
          <p:nvPr/>
        </p:nvSpPr>
        <p:spPr>
          <a:xfrm>
            <a:off x="2200000" y="3180000"/>
            <a:ext cx="4600000" cy="560000"/>
          </a:xfrm>
          <a:prstGeom prst="rect">
            <a:avLst/>
          </a:prstGeom>
          <a:solidFill>
            <a:srgbClr val="FFF5F0"/>
          </a:solidFill>
          <a:ln/>
        </p:spPr>
        <p:txBody>
          <a:bodyPr wrap="square" lIns="100000" tIns="50000" rIns="100000" bIns="500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API Gateway  •  Cloud Run  •  Cloud IAP  •  Firebase Hosting</a:t>
            </a:r>
          </a:p>
        </p:txBody>
      </p:sp>
      <p:sp>
        <p:nvSpPr>
          <p:cNvPr id="20" name="ServingProsCons"/>
          <p:cNvSpPr/>
          <p:nvPr/>
        </p:nvSpPr>
        <p:spPr>
          <a:xfrm>
            <a:off x="7000000" y="3180000"/>
            <a:ext cx="4800000" cy="560000"/>
          </a:xfrm>
          <a:prstGeom prst="rect">
            <a:avLst/>
          </a:prstGeom>
          <a:solidFill>
            <a:srgbClr val="FFF5F0"/>
          </a:solidFill>
          <a:ln/>
        </p:spPr>
        <p:txBody>
          <a:bodyPr wrap="square" lIns="100000" tIns="50000" rIns="100000" bIns="500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✓ Cloud Run: scale-to-zero  ✓ API Gateway: managed rate limiting  ✗ Gateway: 10MB limit</a:t>
            </a:r>
          </a:p>
        </p:txBody>
      </p:sp>
      <p:sp>
        <p:nvSpPr>
          <p:cNvPr id="21" name="SecurityLabel"/>
          <p:cNvSpPr/>
          <p:nvPr/>
        </p:nvSpPr>
        <p:spPr>
          <a:xfrm>
            <a:off x="320040" y="3780000"/>
            <a:ext cx="1800000" cy="560000"/>
          </a:xfrm>
          <a:prstGeom prst="rect">
            <a:avLst/>
          </a:prstGeom>
          <a:solidFill>
            <a:srgbClr val="7B3F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SECURITY</a:t>
            </a:r>
          </a:p>
        </p:txBody>
      </p:sp>
      <p:sp>
        <p:nvSpPr>
          <p:cNvPr id="22" name="SecurityServices"/>
          <p:cNvSpPr/>
          <p:nvPr/>
        </p:nvSpPr>
        <p:spPr>
          <a:xfrm>
            <a:off x="2200000" y="3780000"/>
            <a:ext cx="4600000" cy="560000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lIns="100000" tIns="50000" rIns="100000" bIns="500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SCC Premium  •  Cloud Armor  •  Secret Manager  •  Cloud DLP  •  VPC SC</a:t>
            </a:r>
          </a:p>
        </p:txBody>
      </p:sp>
      <p:sp>
        <p:nvSpPr>
          <p:cNvPr id="23" name="SecurityProsCons"/>
          <p:cNvSpPr/>
          <p:nvPr/>
        </p:nvSpPr>
        <p:spPr>
          <a:xfrm>
            <a:off x="7000000" y="3780000"/>
            <a:ext cx="4800000" cy="560000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lIns="100000" tIns="50000" rIns="100000" bIns="500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✓ SCC Premium: continuous posture  ✓ Cloud Armor: OWASP top-10  ✗ VPC SC: tuning time</a:t>
            </a:r>
          </a:p>
        </p:txBody>
      </p:sp>
      <p:sp>
        <p:nvSpPr>
          <p:cNvPr id="24" name="IaCLabel"/>
          <p:cNvSpPr/>
          <p:nvPr/>
        </p:nvSpPr>
        <p:spPr>
          <a:xfrm>
            <a:off x="320040" y="4380000"/>
            <a:ext cx="1800000" cy="560000"/>
          </a:xfrm>
          <a:prstGeom prst="rect">
            <a:avLst/>
          </a:prstGeom>
          <a:solidFill>
            <a:srgbClr val="36454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IaC / DEVOPS</a:t>
            </a:r>
          </a:p>
        </p:txBody>
      </p:sp>
      <p:sp>
        <p:nvSpPr>
          <p:cNvPr id="25" name="IaCServices"/>
          <p:cNvSpPr/>
          <p:nvPr/>
        </p:nvSpPr>
        <p:spPr>
          <a:xfrm>
            <a:off x="2200000" y="4380000"/>
            <a:ext cx="4600000" cy="5600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00000" tIns="50000" rIns="100000" bIns="500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Terraform  •  Cloud Build  •  Artifact Registry  •  Binary Authorization</a:t>
            </a:r>
          </a:p>
        </p:txBody>
      </p:sp>
      <p:sp>
        <p:nvSpPr>
          <p:cNvPr id="26" name="IaCProsCons"/>
          <p:cNvSpPr/>
          <p:nvPr/>
        </p:nvSpPr>
        <p:spPr>
          <a:xfrm>
            <a:off x="7000000" y="4380000"/>
            <a:ext cx="4800000" cy="5600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00000" tIns="50000" rIns="100000" bIns="500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</a:rPr>
              <a:t>✓ Terraform mature  ✓ Binary Auth prevents attacks  ✗ Multiple state files at scale</a:t>
            </a:r>
          </a:p>
        </p:txBody>
      </p:sp>
      <p:sp>
        <p:nvSpPr>
          <p:cNvPr id="27" name="SummaryBg"/>
          <p:cNvSpPr/>
          <p:nvPr/>
        </p:nvSpPr>
        <p:spPr>
          <a:xfrm>
            <a:off x="320040" y="4980000"/>
            <a:ext cx="11500000" cy="1000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ummaryTitle"/>
          <p:cNvSpPr/>
          <p:nvPr/>
        </p:nvSpPr>
        <p:spPr>
          <a:xfrm>
            <a:off x="320040" y="4980000"/>
            <a:ext cx="115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Services Not Used &amp; Why:</a:t>
            </a:r>
          </a:p>
        </p:txBody>
      </p:sp>
      <p:sp>
        <p:nvSpPr>
          <p:cNvPr id="29" name="SummaryText"/>
          <p:cNvSpPr/>
          <p:nvPr/>
        </p:nvSpPr>
        <p:spPr>
          <a:xfrm>
            <a:off x="320040" y="5300000"/>
            <a:ext cx="11500000" cy="650000"/>
          </a:xfrm>
          <a:prstGeom prst="rect">
            <a:avLst/>
          </a:prstGeom>
          <a:noFill/>
          <a:ln/>
        </p:spPr>
        <p:txBody>
          <a:bodyPr wrap="square" lIns="100000" tIns="50000" rIns="100000" bIns="50000" rtlCol="0" anchor="t"/>
          <a:lstStyle/>
          <a:p>
            <a:pPr marL="0" indent="0">
              <a:buNone/>
            </a:pPr>
            <a:r>
              <a:rPr lang="en-US" sz="1100" b="0" dirty="0">
                <a:solidFill>
                  <a:srgbClr val="FFFFFF"/>
                </a:solidFill>
                <a:latin typeface="Calibri" pitchFamily="34" charset="0"/>
              </a:rPr>
              <a:t>Cloud SQL (replaced by BigQuery for analytics, Entity Resolution Service for entity matching)  •  GKE (replaced by Cloud Run)  •  Bigtable (not required — Entity Resolution Service uses custom storage layer)  •  Pub/Sub Lite (standard Pub/Sub chosen for resilience and simpler ops)</a:t>
            </a:r>
          </a:p>
        </p:txBody>
      </p:sp>
      <p:sp>
        <p:nvSpPr>
          <p:cNvPr id="30" name="FooterBar"/>
          <p:cNvSpPr/>
          <p:nvPr/>
        </p:nvSpPr>
        <p:spPr>
          <a:xfrm>
            <a:off x="0" y="6566448"/>
            <a:ext cx="12192000" cy="29155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FooterText"/>
          <p:cNvSpPr/>
          <p:nvPr/>
        </p:nvSpPr>
        <p:spPr>
          <a:xfrm>
            <a:off x="320040" y="6590000"/>
            <a:ext cx="1143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dirty="0">
                <a:solidFill>
                  <a:srgbClr val="8496A8"/>
                </a:solidFill>
                <a:latin typeface="Calibri" pitchFamily="34" charset="0"/>
              </a:rPr>
              <a:t>Jack Henry Business Intelligence  |  GCP Project Topology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6089</Words>
  <Application>Microsoft Macintosh PowerPoint</Application>
  <PresentationFormat>Widescreen</PresentationFormat>
  <Paragraphs>417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Adam Ames</cp:lastModifiedBy>
  <cp:revision>4</cp:revision>
  <dcterms:created xsi:type="dcterms:W3CDTF">2026-02-24T19:41:49Z</dcterms:created>
  <dcterms:modified xsi:type="dcterms:W3CDTF">2026-03-23T20:04:11Z</dcterms:modified>
</cp:coreProperties>
</file>